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tif" ContentType="image/t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1pPr>
    <a:lvl2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2pPr>
    <a:lvl3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3pPr>
    <a:lvl4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4pPr>
    <a:lvl5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5pPr>
    <a:lvl6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6pPr>
    <a:lvl7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7pPr>
    <a:lvl8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8pPr>
    <a:lvl9pPr marL="0" marR="0" indent="0" algn="ctr" defTabSz="8255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5000" b="0" i="0" u="none" strike="noStrike" cap="none" spc="0" normalizeH="0" baseline="0">
        <a:ln>
          <a:noFill/>
        </a:ln>
        <a:solidFill>
          <a:srgbClr val="535353"/>
        </a:solidFill>
        <a:effectLst/>
        <a:uFillTx/>
        <a:latin typeface="+mn-lt"/>
        <a:ea typeface="+mn-ea"/>
        <a:cs typeface="+mn-cs"/>
        <a:sym typeface="Gill Sans Ligh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AB180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satOff val="1848"/>
              <a:lumOff val="-15262"/>
            </a:schemeClr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chemeClr val="accent6">
                  <a:satOff val="1848"/>
                  <a:lumOff val="-15262"/>
                </a:schemeClr>
              </a:solidFill>
              <a:prstDash val="solid"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0" cap="flat">
              <a:noFill/>
              <a:miter lim="400000"/>
            </a:ln>
          </a:left>
          <a:right>
            <a:ln w="0" cap="flat">
              <a:noFill/>
              <a:miter lim="400000"/>
            </a:ln>
          </a:right>
          <a:top>
            <a:ln w="0" cap="flat">
              <a:noFill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0" cap="flat">
              <a:noFill/>
              <a:miter lim="400000"/>
            </a:ln>
          </a:insideH>
          <a:insideV>
            <a:ln w="0" cap="flat">
              <a:noFill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808785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5E6E5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5A5F5E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BEBEB"/>
          </a:solidFill>
        </a:fill>
      </a:tcStyle>
    </a:band2H>
    <a:firstCol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E5E6E5"/>
          </a:solidFill>
        </a:fill>
      </a:tcStyle>
    </a:firstCol>
    <a:lastRow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lastRow>
    <a:firstRow>
      <a:tcTxStyle b="off" i="off">
        <a:fontRef idx="minor">
          <a:srgbClr val="5A5F5E"/>
        </a:fontRef>
        <a:srgbClr val="5A5F5E"/>
      </a:tcTxStyle>
      <a:tcStyle>
        <a:tcBdr>
          <a:left>
            <a:ln w="12700" cap="flat">
              <a:solidFill>
                <a:srgbClr val="B4B4B4"/>
              </a:solidFill>
              <a:prstDash val="solid"/>
              <a:miter lim="400000"/>
            </a:ln>
          </a:left>
          <a:right>
            <a:ln w="12700" cap="flat">
              <a:solidFill>
                <a:srgbClr val="B4B4B4"/>
              </a:solidFill>
              <a:prstDash val="solid"/>
              <a:miter lim="400000"/>
            </a:ln>
          </a:right>
          <a:top>
            <a:ln w="12700" cap="flat">
              <a:solidFill>
                <a:srgbClr val="B4B4B4"/>
              </a:solidFill>
              <a:prstDash val="solid"/>
              <a:miter lim="400000"/>
            </a:ln>
          </a:top>
          <a:bottom>
            <a:ln w="12700" cap="flat">
              <a:solidFill>
                <a:srgbClr val="B4B4B4"/>
              </a:solidFill>
              <a:prstDash val="solid"/>
              <a:miter lim="400000"/>
            </a:ln>
          </a:bottom>
          <a:insideH>
            <a:ln w="12700" cap="flat">
              <a:solidFill>
                <a:srgbClr val="B4B4B4"/>
              </a:solidFill>
              <a:prstDash val="solid"/>
              <a:miter lim="400000"/>
            </a:ln>
          </a:insideH>
          <a:insideV>
            <a:ln w="12700" cap="flat">
              <a:solidFill>
                <a:srgbClr val="B4B4B4"/>
              </a:solidFill>
              <a:prstDash val="solid"/>
              <a:miter lim="400000"/>
            </a:ln>
          </a:insideV>
        </a:tcBdr>
        <a:fill>
          <a:solidFill>
            <a:srgbClr val="CCCCCC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A5F5E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000000">
              <a:alpha val="5000"/>
            </a:srgbClr>
          </a:solidFill>
        </a:fill>
      </a:tcStyle>
    </a:band2H>
    <a:firstCo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5A5F5E"/>
              </a:solidFill>
              <a:prstDash val="solid"/>
              <a:miter lim="400000"/>
            </a:ln>
          </a:right>
          <a:top>
            <a:ln w="12700" cap="flat">
              <a:solidFill>
                <a:srgbClr val="C8C8C8"/>
              </a:solidFill>
              <a:prstDash val="solid"/>
              <a:miter lim="400000"/>
            </a:ln>
          </a:top>
          <a:bottom>
            <a:ln w="12700" cap="flat">
              <a:solidFill>
                <a:srgbClr val="C8C8C8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solidFill>
                <a:srgbClr val="5A5F5E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C8C8C8"/>
              </a:solidFill>
              <a:prstDash val="solid"/>
              <a:miter lim="400000"/>
            </a:ln>
          </a:left>
          <a:right>
            <a:ln w="12700" cap="flat">
              <a:solidFill>
                <a:srgbClr val="C8C8C8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5A5F5E"/>
              </a:solidFill>
              <a:prstDash val="solid"/>
              <a:miter lim="400000"/>
            </a:ln>
          </a:bottom>
          <a:insideH>
            <a:ln w="12700" cap="flat">
              <a:solidFill>
                <a:srgbClr val="C8C8C8"/>
              </a:solidFill>
              <a:prstDash val="solid"/>
              <a:miter lim="400000"/>
            </a:ln>
          </a:insideH>
          <a:insideV>
            <a:ln w="12700" cap="flat">
              <a:solidFill>
                <a:srgbClr val="C8C8C8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" name="Shape 11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7268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9486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673100" y="2870200"/>
            <a:ext cx="23050500" cy="45593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73100" y="7416800"/>
            <a:ext cx="23050500" cy="18161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0" algn="ctr">
              <a:spcBef>
                <a:spcPts val="0"/>
              </a:spcBef>
              <a:buSzTx/>
              <a:buNone/>
            </a:lvl2pPr>
            <a:lvl3pPr marL="0" indent="0" algn="ctr">
              <a:spcBef>
                <a:spcPts val="0"/>
              </a:spcBef>
              <a:buSzTx/>
              <a:buNone/>
            </a:lvl3pPr>
            <a:lvl4pPr marL="0" indent="0" algn="ctr">
              <a:spcBef>
                <a:spcPts val="0"/>
              </a:spcBef>
              <a:buSzTx/>
              <a:buNone/>
            </a:lvl4pPr>
            <a:lvl5pPr marL="0" indent="0" algn="ctr">
              <a:spcBef>
                <a:spcPts val="0"/>
              </a:spcBef>
              <a:buSz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4280774" y="-1688429"/>
            <a:ext cx="15829857" cy="1184910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2387600" y="9728200"/>
            <a:ext cx="19621500" cy="18034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387600" y="11518900"/>
            <a:ext cx="19621500" cy="16002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0" algn="ctr">
              <a:spcBef>
                <a:spcPts val="0"/>
              </a:spcBef>
              <a:buSzTx/>
              <a:buNone/>
            </a:lvl2pPr>
            <a:lvl3pPr marL="0" indent="0" algn="ctr">
              <a:spcBef>
                <a:spcPts val="0"/>
              </a:spcBef>
              <a:buSzTx/>
              <a:buNone/>
            </a:lvl3pPr>
            <a:lvl4pPr marL="0" indent="0" algn="ctr">
              <a:spcBef>
                <a:spcPts val="0"/>
              </a:spcBef>
              <a:buSzTx/>
              <a:buNone/>
            </a:lvl4pPr>
            <a:lvl5pPr marL="0" indent="0" algn="ctr">
              <a:spcBef>
                <a:spcPts val="0"/>
              </a:spcBef>
              <a:buSz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673100" y="4572000"/>
            <a:ext cx="23050500" cy="45593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idx="13"/>
          </p:nvPr>
        </p:nvSpPr>
        <p:spPr>
          <a:xfrm>
            <a:off x="10590462" y="1511300"/>
            <a:ext cx="13644824" cy="1212873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673100" y="1435100"/>
            <a:ext cx="11049000" cy="5461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673100" y="6870700"/>
            <a:ext cx="11049000" cy="546100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</a:lvl1pPr>
            <a:lvl2pPr marL="0" indent="0" algn="ctr">
              <a:spcBef>
                <a:spcPts val="0"/>
              </a:spcBef>
              <a:buSzTx/>
              <a:buNone/>
            </a:lvl2pPr>
            <a:lvl3pPr marL="0" indent="0" algn="ctr">
              <a:spcBef>
                <a:spcPts val="0"/>
              </a:spcBef>
              <a:buSzTx/>
              <a:buNone/>
            </a:lvl3pPr>
            <a:lvl4pPr marL="0" indent="0" algn="ctr">
              <a:spcBef>
                <a:spcPts val="0"/>
              </a:spcBef>
              <a:buSzTx/>
              <a:buNone/>
            </a:lvl4pPr>
            <a:lvl5pPr marL="0" indent="0" algn="ctr">
              <a:spcBef>
                <a:spcPts val="0"/>
              </a:spcBef>
              <a:buSzTx/>
              <a:buNone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 marL="736600" indent="-736600">
              <a:lnSpc>
                <a:spcPct val="120000"/>
              </a:lnSpc>
              <a:spcBef>
                <a:spcPts val="6500"/>
              </a:spcBef>
              <a:defRPr sz="6400"/>
            </a:lvl1pPr>
            <a:lvl2pPr marL="1473200" indent="-736600">
              <a:lnSpc>
                <a:spcPct val="120000"/>
              </a:lnSpc>
              <a:spcBef>
                <a:spcPts val="6500"/>
              </a:spcBef>
              <a:defRPr sz="6400"/>
            </a:lvl2pPr>
            <a:lvl3pPr marL="2209800" indent="-736600">
              <a:lnSpc>
                <a:spcPct val="120000"/>
              </a:lnSpc>
              <a:spcBef>
                <a:spcPts val="6500"/>
              </a:spcBef>
              <a:defRPr sz="6400"/>
            </a:lvl3pPr>
            <a:lvl4pPr marL="2946400" indent="-736600">
              <a:lnSpc>
                <a:spcPct val="120000"/>
              </a:lnSpc>
              <a:spcBef>
                <a:spcPts val="6500"/>
              </a:spcBef>
              <a:defRPr sz="6400"/>
            </a:lvl4pPr>
            <a:lvl5pPr marL="3683000" indent="-736600">
              <a:lnSpc>
                <a:spcPct val="120000"/>
              </a:lnSpc>
              <a:spcBef>
                <a:spcPts val="6500"/>
              </a:spcBef>
              <a:defRPr sz="6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11814854" y="3230211"/>
            <a:ext cx="11753235" cy="1044731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73100" y="3835400"/>
            <a:ext cx="11049000" cy="88646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435100" y="1066800"/>
            <a:ext cx="21501100" cy="11557000"/>
          </a:xfrm>
          <a:prstGeom prst="rect">
            <a:avLst/>
          </a:prstGeom>
        </p:spPr>
        <p:txBody>
          <a:bodyPr/>
          <a:lstStyle>
            <a:lvl1pPr marL="736600" indent="-736600">
              <a:lnSpc>
                <a:spcPct val="120000"/>
              </a:lnSpc>
              <a:spcBef>
                <a:spcPts val="6500"/>
              </a:spcBef>
              <a:defRPr sz="6400"/>
            </a:lvl1pPr>
            <a:lvl2pPr marL="1473200" indent="-736600">
              <a:lnSpc>
                <a:spcPct val="120000"/>
              </a:lnSpc>
              <a:spcBef>
                <a:spcPts val="6500"/>
              </a:spcBef>
              <a:defRPr sz="6400"/>
            </a:lvl2pPr>
            <a:lvl3pPr marL="2209800" indent="-736600">
              <a:lnSpc>
                <a:spcPct val="120000"/>
              </a:lnSpc>
              <a:spcBef>
                <a:spcPts val="6500"/>
              </a:spcBef>
              <a:defRPr sz="6400"/>
            </a:lvl3pPr>
            <a:lvl4pPr marL="2946400" indent="-736600">
              <a:lnSpc>
                <a:spcPct val="120000"/>
              </a:lnSpc>
              <a:spcBef>
                <a:spcPts val="6500"/>
              </a:spcBef>
              <a:defRPr sz="6400"/>
            </a:lvl4pPr>
            <a:lvl5pPr marL="3683000" indent="-736600">
              <a:lnSpc>
                <a:spcPct val="120000"/>
              </a:lnSpc>
              <a:spcBef>
                <a:spcPts val="6500"/>
              </a:spcBef>
              <a:defRPr sz="6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2-033_1302x975.jpeg"/>
          <p:cNvSpPr>
            <a:spLocks noGrp="1"/>
          </p:cNvSpPr>
          <p:nvPr>
            <p:ph type="pic" sz="half" idx="13"/>
          </p:nvPr>
        </p:nvSpPr>
        <p:spPr>
          <a:xfrm>
            <a:off x="12407900" y="5715000"/>
            <a:ext cx="11023600" cy="8255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half" idx="14"/>
          </p:nvPr>
        </p:nvSpPr>
        <p:spPr>
          <a:xfrm>
            <a:off x="12420600" y="-673100"/>
            <a:ext cx="11023600" cy="8255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5" name="2-10-superquadro_1631x2178.jpeg"/>
          <p:cNvSpPr>
            <a:spLocks noGrp="1"/>
          </p:cNvSpPr>
          <p:nvPr>
            <p:ph type="pic" idx="15"/>
          </p:nvPr>
        </p:nvSpPr>
        <p:spPr>
          <a:xfrm>
            <a:off x="-825499" y="-2108200"/>
            <a:ext cx="13804901" cy="1844321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13"/>
          </p:nvPr>
        </p:nvSpPr>
        <p:spPr>
          <a:xfrm>
            <a:off x="2387600" y="8001000"/>
            <a:ext cx="19621500" cy="647700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800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14"/>
          </p:nvPr>
        </p:nvSpPr>
        <p:spPr>
          <a:xfrm>
            <a:off x="2374900" y="5892800"/>
            <a:ext cx="19621500" cy="8509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</a:lvl1pPr>
          </a:lstStyle>
          <a:p>
            <a:r>
              <a:t>“Type a quote here.”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0"/>
            <a:ext cx="24384000" cy="137160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73100" y="355600"/>
            <a:ext cx="23050500" cy="342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673100" y="3835400"/>
            <a:ext cx="23050500" cy="8864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76099" y="13080999"/>
            <a:ext cx="419101" cy="4572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>
              <a:defRPr sz="24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all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1pPr>
      <a:lvl2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all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2pPr>
      <a:lvl3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all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3pPr>
      <a:lvl4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all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4pPr>
      <a:lvl5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all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5pPr>
      <a:lvl6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all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6pPr>
      <a:lvl7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all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7pPr>
      <a:lvl8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all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8pPr>
      <a:lvl9pPr marL="0" marR="0" indent="0" algn="ctr" defTabSz="8255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0" b="0" i="0" u="none" strike="noStrike" cap="all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9pPr>
    </p:titleStyle>
    <p:bodyStyle>
      <a:lvl1pPr marL="5842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sz="52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1pPr>
      <a:lvl2pPr marL="11684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sz="52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2pPr>
      <a:lvl3pPr marL="17526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sz="52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3pPr>
      <a:lvl4pPr marL="23368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sz="52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4pPr>
      <a:lvl5pPr marL="29210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sz="52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5pPr>
      <a:lvl6pPr marL="35052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sz="52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6pPr>
      <a:lvl7pPr marL="40894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sz="52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7pPr>
      <a:lvl8pPr marL="46736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sz="52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8pPr>
      <a:lvl9pPr marL="5257800" marR="0" indent="-584200" algn="l" defTabSz="825500" rtl="0" latinLnBrk="0">
        <a:lnSpc>
          <a:spcPct val="100000"/>
        </a:lnSpc>
        <a:spcBef>
          <a:spcPts val="5300"/>
        </a:spcBef>
        <a:spcAft>
          <a:spcPts val="0"/>
        </a:spcAft>
        <a:buClrTx/>
        <a:buSzPct val="82000"/>
        <a:buFontTx/>
        <a:buChar char="•"/>
        <a:tabLst/>
        <a:defRPr sz="5200" b="0" i="0" u="none" strike="noStrike" cap="none" spc="0" baseline="0">
          <a:solidFill>
            <a:srgbClr val="535353"/>
          </a:solidFill>
          <a:uFillTx/>
          <a:latin typeface="+mn-lt"/>
          <a:ea typeface="+mn-ea"/>
          <a:cs typeface="+mn-cs"/>
          <a:sym typeface="Gill Sans Light"/>
        </a:defRPr>
      </a:lvl9pPr>
    </p:bodyStyle>
    <p:otherStyle>
      <a:lvl1pPr marL="0" marR="0" indent="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1pPr>
      <a:lvl2pPr marL="0" marR="0" indent="228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2pPr>
      <a:lvl3pPr marL="0" marR="0" indent="457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3pPr>
      <a:lvl4pPr marL="0" marR="0" indent="685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4pPr>
      <a:lvl5pPr marL="0" marR="0" indent="9144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5pPr>
      <a:lvl6pPr marL="0" marR="0" indent="11430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6pPr>
      <a:lvl7pPr marL="0" marR="0" indent="13716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7pPr>
      <a:lvl8pPr marL="0" marR="0" indent="16002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8pPr>
      <a:lvl9pPr marL="0" marR="0" indent="1828800" algn="ctr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Gill Sans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cid:199859783799764392776232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cid:199859783799764392776232" TargetMode="Externa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12.xml"/><Relationship Id="rId4" Type="http://schemas.openxmlformats.org/officeDocument/2006/relationships/image" Target="cid:199859783799764392776232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1.xml"/><Relationship Id="rId4" Type="http://schemas.openxmlformats.org/officeDocument/2006/relationships/image" Target="cid:199859783799764392776232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12.xml"/><Relationship Id="rId4" Type="http://schemas.openxmlformats.org/officeDocument/2006/relationships/image" Target="cid:199859783799764392776232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cid:199859783799764392776232" TargetMode="External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12.xml"/><Relationship Id="rId4" Type="http://schemas.openxmlformats.org/officeDocument/2006/relationships/image" Target="cid:19985978379976439277623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earch"/>
          <p:cNvSpPr/>
          <p:nvPr/>
        </p:nvSpPr>
        <p:spPr>
          <a:xfrm>
            <a:off x="6259587" y="9704671"/>
            <a:ext cx="555554" cy="6511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00" h="21502" extrusionOk="0">
                <a:moveTo>
                  <a:pt x="7928" y="4"/>
                </a:moveTo>
                <a:cubicBezTo>
                  <a:pt x="6343" y="54"/>
                  <a:pt x="4758" y="513"/>
                  <a:pt x="3383" y="1414"/>
                </a:cubicBezTo>
                <a:cubicBezTo>
                  <a:pt x="-286" y="3816"/>
                  <a:pt x="-1098" y="8454"/>
                  <a:pt x="1573" y="11753"/>
                </a:cubicBezTo>
                <a:cubicBezTo>
                  <a:pt x="3866" y="14587"/>
                  <a:pt x="8102" y="15587"/>
                  <a:pt x="11645" y="14130"/>
                </a:cubicBezTo>
                <a:lnTo>
                  <a:pt x="11895" y="14028"/>
                </a:lnTo>
                <a:lnTo>
                  <a:pt x="12039" y="14238"/>
                </a:lnTo>
                <a:cubicBezTo>
                  <a:pt x="12051" y="14256"/>
                  <a:pt x="12060" y="14269"/>
                  <a:pt x="12071" y="14282"/>
                </a:cubicBezTo>
                <a:lnTo>
                  <a:pt x="17686" y="21218"/>
                </a:lnTo>
                <a:cubicBezTo>
                  <a:pt x="17806" y="21366"/>
                  <a:pt x="17984" y="21464"/>
                  <a:pt x="18188" y="21493"/>
                </a:cubicBezTo>
                <a:cubicBezTo>
                  <a:pt x="18392" y="21522"/>
                  <a:pt x="18597" y="21479"/>
                  <a:pt x="18762" y="21371"/>
                </a:cubicBezTo>
                <a:lnTo>
                  <a:pt x="20082" y="20505"/>
                </a:lnTo>
                <a:cubicBezTo>
                  <a:pt x="20425" y="20281"/>
                  <a:pt x="20502" y="19847"/>
                  <a:pt x="20252" y="19538"/>
                </a:cubicBezTo>
                <a:lnTo>
                  <a:pt x="14637" y="12602"/>
                </a:lnTo>
                <a:cubicBezTo>
                  <a:pt x="14613" y="12572"/>
                  <a:pt x="14586" y="12546"/>
                  <a:pt x="14559" y="12521"/>
                </a:cubicBezTo>
                <a:lnTo>
                  <a:pt x="14359" y="12340"/>
                </a:lnTo>
                <a:lnTo>
                  <a:pt x="14540" y="12143"/>
                </a:lnTo>
                <a:cubicBezTo>
                  <a:pt x="16964" y="9533"/>
                  <a:pt x="17103" y="5790"/>
                  <a:pt x="14878" y="3042"/>
                </a:cubicBezTo>
                <a:cubicBezTo>
                  <a:pt x="13209" y="980"/>
                  <a:pt x="10569" y="-78"/>
                  <a:pt x="7928" y="4"/>
                </a:cubicBezTo>
                <a:close/>
                <a:moveTo>
                  <a:pt x="7952" y="1548"/>
                </a:moveTo>
                <a:cubicBezTo>
                  <a:pt x="8377" y="1533"/>
                  <a:pt x="8807" y="1556"/>
                  <a:pt x="9237" y="1617"/>
                </a:cubicBezTo>
                <a:cubicBezTo>
                  <a:pt x="10956" y="1861"/>
                  <a:pt x="12466" y="2690"/>
                  <a:pt x="13488" y="3952"/>
                </a:cubicBezTo>
                <a:cubicBezTo>
                  <a:pt x="15601" y="6562"/>
                  <a:pt x="14959" y="10231"/>
                  <a:pt x="12058" y="12131"/>
                </a:cubicBezTo>
                <a:cubicBezTo>
                  <a:pt x="10904" y="12887"/>
                  <a:pt x="9563" y="13250"/>
                  <a:pt x="8234" y="13250"/>
                </a:cubicBezTo>
                <a:cubicBezTo>
                  <a:pt x="6221" y="13250"/>
                  <a:pt x="4235" y="12415"/>
                  <a:pt x="2963" y="10843"/>
                </a:cubicBezTo>
                <a:cubicBezTo>
                  <a:pt x="850" y="8233"/>
                  <a:pt x="1491" y="4565"/>
                  <a:pt x="4393" y="2665"/>
                </a:cubicBezTo>
                <a:cubicBezTo>
                  <a:pt x="5446" y="1976"/>
                  <a:pt x="6677" y="1593"/>
                  <a:pt x="7952" y="1548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0" name="Rectangle"/>
          <p:cNvSpPr/>
          <p:nvPr/>
        </p:nvSpPr>
        <p:spPr>
          <a:xfrm>
            <a:off x="7316212" y="9164601"/>
            <a:ext cx="5539781" cy="1517452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1" name="Rectangle"/>
          <p:cNvSpPr/>
          <p:nvPr/>
        </p:nvSpPr>
        <p:spPr>
          <a:xfrm>
            <a:off x="12591673" y="9129945"/>
            <a:ext cx="264320" cy="1552108"/>
          </a:xfrm>
          <a:prstGeom prst="rect">
            <a:avLst/>
          </a:prstGeom>
          <a:solidFill>
            <a:srgbClr val="CA555B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2" name="Shape"/>
          <p:cNvSpPr/>
          <p:nvPr/>
        </p:nvSpPr>
        <p:spPr>
          <a:xfrm flipH="1">
            <a:off x="5583297" y="9147273"/>
            <a:ext cx="1586230" cy="1552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0" h="21385" extrusionOk="0">
                <a:moveTo>
                  <a:pt x="0" y="14"/>
                </a:moveTo>
                <a:lnTo>
                  <a:pt x="0" y="21385"/>
                </a:lnTo>
                <a:lnTo>
                  <a:pt x="21192" y="21385"/>
                </a:lnTo>
                <a:cubicBezTo>
                  <a:pt x="21600" y="16103"/>
                  <a:pt x="19825" y="10882"/>
                  <a:pt x="16262" y="6883"/>
                </a:cubicBezTo>
                <a:cubicBezTo>
                  <a:pt x="12188" y="2311"/>
                  <a:pt x="6208" y="-215"/>
                  <a:pt x="0" y="14"/>
                </a:cubicBezTo>
                <a:close/>
              </a:path>
            </a:pathLst>
          </a:custGeom>
          <a:solidFill>
            <a:srgbClr val="CA555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3" name="Shape"/>
          <p:cNvSpPr/>
          <p:nvPr/>
        </p:nvSpPr>
        <p:spPr>
          <a:xfrm rot="10800000" flipH="1">
            <a:off x="7158097" y="9147273"/>
            <a:ext cx="1586230" cy="1552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0" h="21385" extrusionOk="0">
                <a:moveTo>
                  <a:pt x="0" y="14"/>
                </a:moveTo>
                <a:lnTo>
                  <a:pt x="0" y="21385"/>
                </a:lnTo>
                <a:lnTo>
                  <a:pt x="21192" y="21385"/>
                </a:lnTo>
                <a:cubicBezTo>
                  <a:pt x="21600" y="16103"/>
                  <a:pt x="19825" y="10882"/>
                  <a:pt x="16262" y="6883"/>
                </a:cubicBezTo>
                <a:cubicBezTo>
                  <a:pt x="12188" y="2311"/>
                  <a:pt x="6208" y="-215"/>
                  <a:pt x="0" y="14"/>
                </a:cubicBezTo>
                <a:close/>
              </a:path>
            </a:pathLst>
          </a:custGeom>
          <a:solidFill>
            <a:srgbClr val="CA555B"/>
          </a:solidFill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4" name="Rectangle"/>
          <p:cNvSpPr/>
          <p:nvPr/>
        </p:nvSpPr>
        <p:spPr>
          <a:xfrm>
            <a:off x="8840212" y="7615201"/>
            <a:ext cx="5539781" cy="1517452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5" name="Rectangle"/>
          <p:cNvSpPr/>
          <p:nvPr/>
        </p:nvSpPr>
        <p:spPr>
          <a:xfrm>
            <a:off x="14115673" y="7580545"/>
            <a:ext cx="264320" cy="1552108"/>
          </a:xfrm>
          <a:prstGeom prst="rect">
            <a:avLst/>
          </a:prstGeom>
          <a:solidFill>
            <a:srgbClr val="26556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6" name="Shape"/>
          <p:cNvSpPr/>
          <p:nvPr/>
        </p:nvSpPr>
        <p:spPr>
          <a:xfrm flipH="1">
            <a:off x="7107297" y="7597873"/>
            <a:ext cx="1586230" cy="1552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0" h="21385" extrusionOk="0">
                <a:moveTo>
                  <a:pt x="0" y="14"/>
                </a:moveTo>
                <a:lnTo>
                  <a:pt x="0" y="21385"/>
                </a:lnTo>
                <a:lnTo>
                  <a:pt x="21192" y="21385"/>
                </a:lnTo>
                <a:cubicBezTo>
                  <a:pt x="21600" y="16103"/>
                  <a:pt x="19825" y="10882"/>
                  <a:pt x="16262" y="6883"/>
                </a:cubicBezTo>
                <a:cubicBezTo>
                  <a:pt x="12188" y="2311"/>
                  <a:pt x="6208" y="-215"/>
                  <a:pt x="0" y="14"/>
                </a:cubicBezTo>
                <a:close/>
              </a:path>
            </a:pathLst>
          </a:custGeom>
          <a:solidFill>
            <a:srgbClr val="2A5F8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7" name="Shape"/>
          <p:cNvSpPr/>
          <p:nvPr/>
        </p:nvSpPr>
        <p:spPr>
          <a:xfrm rot="10800000" flipH="1">
            <a:off x="8682097" y="7597873"/>
            <a:ext cx="1586230" cy="1552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0" h="21385" extrusionOk="0">
                <a:moveTo>
                  <a:pt x="0" y="14"/>
                </a:moveTo>
                <a:lnTo>
                  <a:pt x="0" y="21385"/>
                </a:lnTo>
                <a:lnTo>
                  <a:pt x="21192" y="21385"/>
                </a:lnTo>
                <a:cubicBezTo>
                  <a:pt x="21600" y="16103"/>
                  <a:pt x="19825" y="10882"/>
                  <a:pt x="16262" y="6883"/>
                </a:cubicBezTo>
                <a:cubicBezTo>
                  <a:pt x="12188" y="2311"/>
                  <a:pt x="6208" y="-215"/>
                  <a:pt x="0" y="14"/>
                </a:cubicBezTo>
                <a:close/>
              </a:path>
            </a:pathLst>
          </a:custGeom>
          <a:solidFill>
            <a:srgbClr val="26556E"/>
          </a:solidFill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8" name="OPPORTUNITY ANALYSIS"/>
          <p:cNvSpPr txBox="1"/>
          <p:nvPr/>
        </p:nvSpPr>
        <p:spPr>
          <a:xfrm>
            <a:off x="8985684" y="9475642"/>
            <a:ext cx="3119083" cy="911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lnSpc>
                <a:spcPct val="120000"/>
              </a:lnSpc>
              <a:defRPr sz="2500" spc="249">
                <a:solidFill>
                  <a:schemeClr val="accent6">
                    <a:hueOff val="-133706"/>
                    <a:satOff val="8281"/>
                    <a:lumOff val="-27269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rPr dirty="0"/>
              <a:t>OPPORTUNITY ANALYSIS</a:t>
            </a:r>
          </a:p>
        </p:txBody>
      </p:sp>
      <p:sp>
        <p:nvSpPr>
          <p:cNvPr id="139" name="1"/>
          <p:cNvSpPr txBox="1"/>
          <p:nvPr/>
        </p:nvSpPr>
        <p:spPr>
          <a:xfrm>
            <a:off x="7634933" y="9474199"/>
            <a:ext cx="530958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90000"/>
              </a:lnSpc>
              <a:defRPr spc="499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1</a:t>
            </a:r>
          </a:p>
        </p:txBody>
      </p:sp>
      <p:sp>
        <p:nvSpPr>
          <p:cNvPr id="140" name="2"/>
          <p:cNvSpPr txBox="1"/>
          <p:nvPr/>
        </p:nvSpPr>
        <p:spPr>
          <a:xfrm>
            <a:off x="9158933" y="7924799"/>
            <a:ext cx="530958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90000"/>
              </a:lnSpc>
              <a:defRPr spc="499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2</a:t>
            </a:r>
          </a:p>
        </p:txBody>
      </p:sp>
      <p:sp>
        <p:nvSpPr>
          <p:cNvPr id="141" name="Paint Splatter"/>
          <p:cNvSpPr/>
          <p:nvPr/>
        </p:nvSpPr>
        <p:spPr>
          <a:xfrm>
            <a:off x="5982354" y="9618991"/>
            <a:ext cx="832787" cy="8224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65" h="21541" extrusionOk="0">
                <a:moveTo>
                  <a:pt x="18778" y="6"/>
                </a:moveTo>
                <a:cubicBezTo>
                  <a:pt x="17680" y="134"/>
                  <a:pt x="17057" y="2145"/>
                  <a:pt x="17057" y="2145"/>
                </a:cubicBezTo>
                <a:cubicBezTo>
                  <a:pt x="16852" y="3359"/>
                  <a:pt x="15985" y="3890"/>
                  <a:pt x="15481" y="4101"/>
                </a:cubicBezTo>
                <a:cubicBezTo>
                  <a:pt x="14194" y="4297"/>
                  <a:pt x="13397" y="3507"/>
                  <a:pt x="13053" y="1869"/>
                </a:cubicBezTo>
                <a:cubicBezTo>
                  <a:pt x="12537" y="2880"/>
                  <a:pt x="11654" y="3375"/>
                  <a:pt x="10752" y="3375"/>
                </a:cubicBezTo>
                <a:cubicBezTo>
                  <a:pt x="10038" y="3375"/>
                  <a:pt x="9410" y="2981"/>
                  <a:pt x="9042" y="2385"/>
                </a:cubicBezTo>
                <a:cubicBezTo>
                  <a:pt x="9027" y="2364"/>
                  <a:pt x="9047" y="2392"/>
                  <a:pt x="9027" y="2365"/>
                </a:cubicBezTo>
                <a:cubicBezTo>
                  <a:pt x="8712" y="1939"/>
                  <a:pt x="8495" y="1267"/>
                  <a:pt x="8495" y="1267"/>
                </a:cubicBezTo>
                <a:cubicBezTo>
                  <a:pt x="8387" y="975"/>
                  <a:pt x="8079" y="832"/>
                  <a:pt x="7808" y="949"/>
                </a:cubicBezTo>
                <a:cubicBezTo>
                  <a:pt x="7536" y="1065"/>
                  <a:pt x="7403" y="1396"/>
                  <a:pt x="7512" y="1688"/>
                </a:cubicBezTo>
                <a:cubicBezTo>
                  <a:pt x="7512" y="1688"/>
                  <a:pt x="8063" y="2709"/>
                  <a:pt x="7926" y="3310"/>
                </a:cubicBezTo>
                <a:cubicBezTo>
                  <a:pt x="7837" y="3703"/>
                  <a:pt x="7904" y="4946"/>
                  <a:pt x="6218" y="5135"/>
                </a:cubicBezTo>
                <a:cubicBezTo>
                  <a:pt x="5752" y="5188"/>
                  <a:pt x="5327" y="4932"/>
                  <a:pt x="5018" y="4604"/>
                </a:cubicBezTo>
                <a:cubicBezTo>
                  <a:pt x="5009" y="4602"/>
                  <a:pt x="5000" y="4602"/>
                  <a:pt x="4991" y="4600"/>
                </a:cubicBezTo>
                <a:cubicBezTo>
                  <a:pt x="5214" y="6253"/>
                  <a:pt x="4846" y="7549"/>
                  <a:pt x="3835" y="8175"/>
                </a:cubicBezTo>
                <a:cubicBezTo>
                  <a:pt x="3057" y="8564"/>
                  <a:pt x="1662" y="8170"/>
                  <a:pt x="1662" y="8170"/>
                </a:cubicBezTo>
                <a:cubicBezTo>
                  <a:pt x="1662" y="8170"/>
                  <a:pt x="3252" y="9037"/>
                  <a:pt x="3447" y="9405"/>
                </a:cubicBezTo>
                <a:cubicBezTo>
                  <a:pt x="3642" y="9774"/>
                  <a:pt x="3739" y="10487"/>
                  <a:pt x="3611" y="11024"/>
                </a:cubicBezTo>
                <a:cubicBezTo>
                  <a:pt x="3469" y="11466"/>
                  <a:pt x="3110" y="11975"/>
                  <a:pt x="2194" y="11735"/>
                </a:cubicBezTo>
                <a:cubicBezTo>
                  <a:pt x="2194" y="11735"/>
                  <a:pt x="-293" y="11137"/>
                  <a:pt x="29" y="13686"/>
                </a:cubicBezTo>
                <a:cubicBezTo>
                  <a:pt x="29" y="13686"/>
                  <a:pt x="572" y="16056"/>
                  <a:pt x="2540" y="14422"/>
                </a:cubicBezTo>
                <a:cubicBezTo>
                  <a:pt x="3229" y="13850"/>
                  <a:pt x="3466" y="13680"/>
                  <a:pt x="3758" y="13817"/>
                </a:cubicBezTo>
                <a:cubicBezTo>
                  <a:pt x="4891" y="14598"/>
                  <a:pt x="5317" y="15680"/>
                  <a:pt x="4758" y="17390"/>
                </a:cubicBezTo>
                <a:cubicBezTo>
                  <a:pt x="7376" y="16540"/>
                  <a:pt x="8461" y="17351"/>
                  <a:pt x="8474" y="18455"/>
                </a:cubicBezTo>
                <a:cubicBezTo>
                  <a:pt x="8487" y="19560"/>
                  <a:pt x="8015" y="19973"/>
                  <a:pt x="8015" y="19973"/>
                </a:cubicBezTo>
                <a:cubicBezTo>
                  <a:pt x="7078" y="21279"/>
                  <a:pt x="8131" y="21539"/>
                  <a:pt x="8131" y="21539"/>
                </a:cubicBezTo>
                <a:cubicBezTo>
                  <a:pt x="8923" y="21597"/>
                  <a:pt x="8788" y="20282"/>
                  <a:pt x="8788" y="20282"/>
                </a:cubicBezTo>
                <a:cubicBezTo>
                  <a:pt x="8765" y="19731"/>
                  <a:pt x="8951" y="18719"/>
                  <a:pt x="9193" y="18402"/>
                </a:cubicBezTo>
                <a:cubicBezTo>
                  <a:pt x="9719" y="17713"/>
                  <a:pt x="12920" y="16968"/>
                  <a:pt x="13661" y="20186"/>
                </a:cubicBezTo>
                <a:cubicBezTo>
                  <a:pt x="13940" y="17526"/>
                  <a:pt x="16095" y="16040"/>
                  <a:pt x="16894" y="17208"/>
                </a:cubicBezTo>
                <a:cubicBezTo>
                  <a:pt x="17606" y="18250"/>
                  <a:pt x="17592" y="18779"/>
                  <a:pt x="18341" y="19048"/>
                </a:cubicBezTo>
                <a:cubicBezTo>
                  <a:pt x="18817" y="19219"/>
                  <a:pt x="19267" y="18578"/>
                  <a:pt x="19121" y="18094"/>
                </a:cubicBezTo>
                <a:cubicBezTo>
                  <a:pt x="18976" y="17610"/>
                  <a:pt x="18406" y="17609"/>
                  <a:pt x="17445" y="16640"/>
                </a:cubicBezTo>
                <a:cubicBezTo>
                  <a:pt x="16491" y="15680"/>
                  <a:pt x="17449" y="12361"/>
                  <a:pt x="18805" y="12812"/>
                </a:cubicBezTo>
                <a:cubicBezTo>
                  <a:pt x="19049" y="12893"/>
                  <a:pt x="19141" y="12986"/>
                  <a:pt x="19373" y="13014"/>
                </a:cubicBezTo>
                <a:cubicBezTo>
                  <a:pt x="19605" y="13043"/>
                  <a:pt x="19842" y="12954"/>
                  <a:pt x="19868" y="12752"/>
                </a:cubicBezTo>
                <a:cubicBezTo>
                  <a:pt x="19895" y="12550"/>
                  <a:pt x="19769" y="12416"/>
                  <a:pt x="19498" y="12345"/>
                </a:cubicBezTo>
                <a:cubicBezTo>
                  <a:pt x="19278" y="12287"/>
                  <a:pt x="19167" y="12369"/>
                  <a:pt x="18803" y="12220"/>
                </a:cubicBezTo>
                <a:cubicBezTo>
                  <a:pt x="17193" y="11564"/>
                  <a:pt x="17586" y="8705"/>
                  <a:pt x="19810" y="7865"/>
                </a:cubicBezTo>
                <a:cubicBezTo>
                  <a:pt x="17967" y="7771"/>
                  <a:pt x="16765" y="6843"/>
                  <a:pt x="16623" y="5495"/>
                </a:cubicBezTo>
                <a:cubicBezTo>
                  <a:pt x="16548" y="3927"/>
                  <a:pt x="18428" y="3479"/>
                  <a:pt x="18428" y="3479"/>
                </a:cubicBezTo>
                <a:cubicBezTo>
                  <a:pt x="21307" y="2438"/>
                  <a:pt x="19943" y="558"/>
                  <a:pt x="19943" y="558"/>
                </a:cubicBezTo>
                <a:cubicBezTo>
                  <a:pt x="19603" y="206"/>
                  <a:pt x="19290" y="41"/>
                  <a:pt x="19004" y="6"/>
                </a:cubicBezTo>
                <a:cubicBezTo>
                  <a:pt x="18927" y="-3"/>
                  <a:pt x="18851" y="-2"/>
                  <a:pt x="18778" y="6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2" name="Search"/>
          <p:cNvSpPr/>
          <p:nvPr/>
        </p:nvSpPr>
        <p:spPr>
          <a:xfrm>
            <a:off x="7725067" y="8192507"/>
            <a:ext cx="555553" cy="6511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00" h="21502" extrusionOk="0">
                <a:moveTo>
                  <a:pt x="7928" y="4"/>
                </a:moveTo>
                <a:cubicBezTo>
                  <a:pt x="6343" y="54"/>
                  <a:pt x="4758" y="513"/>
                  <a:pt x="3383" y="1414"/>
                </a:cubicBezTo>
                <a:cubicBezTo>
                  <a:pt x="-286" y="3816"/>
                  <a:pt x="-1098" y="8454"/>
                  <a:pt x="1573" y="11753"/>
                </a:cubicBezTo>
                <a:cubicBezTo>
                  <a:pt x="3866" y="14587"/>
                  <a:pt x="8102" y="15587"/>
                  <a:pt x="11645" y="14130"/>
                </a:cubicBezTo>
                <a:lnTo>
                  <a:pt x="11895" y="14028"/>
                </a:lnTo>
                <a:lnTo>
                  <a:pt x="12039" y="14238"/>
                </a:lnTo>
                <a:cubicBezTo>
                  <a:pt x="12051" y="14256"/>
                  <a:pt x="12060" y="14269"/>
                  <a:pt x="12071" y="14282"/>
                </a:cubicBezTo>
                <a:lnTo>
                  <a:pt x="17686" y="21218"/>
                </a:lnTo>
                <a:cubicBezTo>
                  <a:pt x="17806" y="21366"/>
                  <a:pt x="17984" y="21464"/>
                  <a:pt x="18188" y="21493"/>
                </a:cubicBezTo>
                <a:cubicBezTo>
                  <a:pt x="18392" y="21522"/>
                  <a:pt x="18597" y="21479"/>
                  <a:pt x="18762" y="21371"/>
                </a:cubicBezTo>
                <a:lnTo>
                  <a:pt x="20082" y="20505"/>
                </a:lnTo>
                <a:cubicBezTo>
                  <a:pt x="20425" y="20281"/>
                  <a:pt x="20502" y="19847"/>
                  <a:pt x="20252" y="19538"/>
                </a:cubicBezTo>
                <a:lnTo>
                  <a:pt x="14637" y="12602"/>
                </a:lnTo>
                <a:cubicBezTo>
                  <a:pt x="14613" y="12572"/>
                  <a:pt x="14586" y="12546"/>
                  <a:pt x="14559" y="12521"/>
                </a:cubicBezTo>
                <a:lnTo>
                  <a:pt x="14359" y="12340"/>
                </a:lnTo>
                <a:lnTo>
                  <a:pt x="14540" y="12143"/>
                </a:lnTo>
                <a:cubicBezTo>
                  <a:pt x="16964" y="9533"/>
                  <a:pt x="17103" y="5790"/>
                  <a:pt x="14878" y="3042"/>
                </a:cubicBezTo>
                <a:cubicBezTo>
                  <a:pt x="13209" y="980"/>
                  <a:pt x="10569" y="-78"/>
                  <a:pt x="7928" y="4"/>
                </a:cubicBezTo>
                <a:close/>
                <a:moveTo>
                  <a:pt x="7952" y="1548"/>
                </a:moveTo>
                <a:cubicBezTo>
                  <a:pt x="8377" y="1533"/>
                  <a:pt x="8807" y="1556"/>
                  <a:pt x="9237" y="1617"/>
                </a:cubicBezTo>
                <a:cubicBezTo>
                  <a:pt x="10956" y="1861"/>
                  <a:pt x="12466" y="2690"/>
                  <a:pt x="13488" y="3952"/>
                </a:cubicBezTo>
                <a:cubicBezTo>
                  <a:pt x="15601" y="6562"/>
                  <a:pt x="14959" y="10231"/>
                  <a:pt x="12058" y="12131"/>
                </a:cubicBezTo>
                <a:cubicBezTo>
                  <a:pt x="10904" y="12887"/>
                  <a:pt x="9563" y="13250"/>
                  <a:pt x="8234" y="13250"/>
                </a:cubicBezTo>
                <a:cubicBezTo>
                  <a:pt x="6221" y="13250"/>
                  <a:pt x="4235" y="12415"/>
                  <a:pt x="2963" y="10843"/>
                </a:cubicBezTo>
                <a:cubicBezTo>
                  <a:pt x="850" y="8233"/>
                  <a:pt x="1491" y="4565"/>
                  <a:pt x="4393" y="2665"/>
                </a:cubicBezTo>
                <a:cubicBezTo>
                  <a:pt x="5446" y="1976"/>
                  <a:pt x="6677" y="1593"/>
                  <a:pt x="7952" y="1548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3" name="Rectangle"/>
          <p:cNvSpPr/>
          <p:nvPr/>
        </p:nvSpPr>
        <p:spPr>
          <a:xfrm>
            <a:off x="10404747" y="6066630"/>
            <a:ext cx="5539781" cy="1517452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4" name="Rectangle"/>
          <p:cNvSpPr/>
          <p:nvPr/>
        </p:nvSpPr>
        <p:spPr>
          <a:xfrm>
            <a:off x="15680208" y="6031974"/>
            <a:ext cx="264320" cy="1552108"/>
          </a:xfrm>
          <a:prstGeom prst="rect">
            <a:avLst/>
          </a:prstGeom>
          <a:solidFill>
            <a:schemeClr val="accent6">
              <a:satOff val="1848"/>
              <a:lumOff val="-15262"/>
            </a:schemeClr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5" name="Shape"/>
          <p:cNvSpPr/>
          <p:nvPr/>
        </p:nvSpPr>
        <p:spPr>
          <a:xfrm flipH="1">
            <a:off x="8671833" y="6049301"/>
            <a:ext cx="1586230" cy="1552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0" h="21385" extrusionOk="0">
                <a:moveTo>
                  <a:pt x="0" y="14"/>
                </a:moveTo>
                <a:lnTo>
                  <a:pt x="0" y="21385"/>
                </a:lnTo>
                <a:lnTo>
                  <a:pt x="21192" y="21385"/>
                </a:lnTo>
                <a:cubicBezTo>
                  <a:pt x="21600" y="16103"/>
                  <a:pt x="19825" y="10882"/>
                  <a:pt x="16262" y="6883"/>
                </a:cubicBezTo>
                <a:cubicBezTo>
                  <a:pt x="12188" y="2311"/>
                  <a:pt x="6208" y="-215"/>
                  <a:pt x="0" y="14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6" name="Shape"/>
          <p:cNvSpPr/>
          <p:nvPr/>
        </p:nvSpPr>
        <p:spPr>
          <a:xfrm rot="10800000" flipH="1">
            <a:off x="10246633" y="6049301"/>
            <a:ext cx="1586230" cy="1552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0" h="21385" extrusionOk="0">
                <a:moveTo>
                  <a:pt x="0" y="14"/>
                </a:moveTo>
                <a:lnTo>
                  <a:pt x="0" y="21385"/>
                </a:lnTo>
                <a:lnTo>
                  <a:pt x="21192" y="21385"/>
                </a:lnTo>
                <a:cubicBezTo>
                  <a:pt x="21600" y="16103"/>
                  <a:pt x="19825" y="10882"/>
                  <a:pt x="16262" y="6883"/>
                </a:cubicBezTo>
                <a:cubicBezTo>
                  <a:pt x="12188" y="2311"/>
                  <a:pt x="6208" y="-215"/>
                  <a:pt x="0" y="14"/>
                </a:cubicBezTo>
                <a:close/>
              </a:path>
            </a:pathLst>
          </a:custGeom>
          <a:solidFill>
            <a:schemeClr val="accent6">
              <a:satOff val="1848"/>
              <a:lumOff val="-15262"/>
            </a:schemeClr>
          </a:solidFill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7" name="3"/>
          <p:cNvSpPr txBox="1"/>
          <p:nvPr/>
        </p:nvSpPr>
        <p:spPr>
          <a:xfrm>
            <a:off x="10654607" y="6293678"/>
            <a:ext cx="530957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90000"/>
              </a:lnSpc>
              <a:defRPr spc="499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3</a:t>
            </a:r>
          </a:p>
        </p:txBody>
      </p:sp>
      <p:sp>
        <p:nvSpPr>
          <p:cNvPr id="148" name="Hammer"/>
          <p:cNvSpPr/>
          <p:nvPr/>
        </p:nvSpPr>
        <p:spPr>
          <a:xfrm rot="18900000">
            <a:off x="9426759" y="6598753"/>
            <a:ext cx="347001" cy="7168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4" h="21595" extrusionOk="0">
                <a:moveTo>
                  <a:pt x="12161" y="5"/>
                </a:moveTo>
                <a:cubicBezTo>
                  <a:pt x="7931" y="77"/>
                  <a:pt x="3428" y="850"/>
                  <a:pt x="31" y="3980"/>
                </a:cubicBezTo>
                <a:cubicBezTo>
                  <a:pt x="-96" y="4097"/>
                  <a:pt x="199" y="4215"/>
                  <a:pt x="410" y="4130"/>
                </a:cubicBezTo>
                <a:cubicBezTo>
                  <a:pt x="2319" y="3363"/>
                  <a:pt x="4025" y="2246"/>
                  <a:pt x="6056" y="2246"/>
                </a:cubicBezTo>
                <a:cubicBezTo>
                  <a:pt x="8156" y="2246"/>
                  <a:pt x="8496" y="3611"/>
                  <a:pt x="8496" y="3611"/>
                </a:cubicBezTo>
                <a:lnTo>
                  <a:pt x="9038" y="3611"/>
                </a:lnTo>
                <a:lnTo>
                  <a:pt x="9038" y="9084"/>
                </a:lnTo>
                <a:cubicBezTo>
                  <a:pt x="8731" y="9095"/>
                  <a:pt x="8451" y="9190"/>
                  <a:pt x="8382" y="9337"/>
                </a:cubicBezTo>
                <a:cubicBezTo>
                  <a:pt x="7788" y="10594"/>
                  <a:pt x="8323" y="14242"/>
                  <a:pt x="8323" y="16546"/>
                </a:cubicBezTo>
                <a:cubicBezTo>
                  <a:pt x="8323" y="18416"/>
                  <a:pt x="8011" y="20381"/>
                  <a:pt x="7864" y="21200"/>
                </a:cubicBezTo>
                <a:cubicBezTo>
                  <a:pt x="7827" y="21413"/>
                  <a:pt x="8169" y="21595"/>
                  <a:pt x="8607" y="21595"/>
                </a:cubicBezTo>
                <a:lnTo>
                  <a:pt x="12682" y="21595"/>
                </a:lnTo>
                <a:cubicBezTo>
                  <a:pt x="13120" y="21595"/>
                  <a:pt x="13466" y="21413"/>
                  <a:pt x="13428" y="21200"/>
                </a:cubicBezTo>
                <a:cubicBezTo>
                  <a:pt x="13282" y="20381"/>
                  <a:pt x="12970" y="18416"/>
                  <a:pt x="12970" y="16546"/>
                </a:cubicBezTo>
                <a:cubicBezTo>
                  <a:pt x="12970" y="14242"/>
                  <a:pt x="13504" y="10594"/>
                  <a:pt x="12911" y="9337"/>
                </a:cubicBezTo>
                <a:cubicBezTo>
                  <a:pt x="12842" y="9190"/>
                  <a:pt x="12561" y="9095"/>
                  <a:pt x="12255" y="9084"/>
                </a:cubicBezTo>
                <a:lnTo>
                  <a:pt x="12255" y="3611"/>
                </a:lnTo>
                <a:lnTo>
                  <a:pt x="12796" y="3611"/>
                </a:lnTo>
                <a:cubicBezTo>
                  <a:pt x="12796" y="3611"/>
                  <a:pt x="13547" y="2180"/>
                  <a:pt x="15941" y="2180"/>
                </a:cubicBezTo>
                <a:cubicBezTo>
                  <a:pt x="18334" y="2180"/>
                  <a:pt x="18630" y="2608"/>
                  <a:pt x="18630" y="2608"/>
                </a:cubicBezTo>
                <a:lnTo>
                  <a:pt x="21504" y="2608"/>
                </a:lnTo>
                <a:lnTo>
                  <a:pt x="21504" y="353"/>
                </a:lnTo>
                <a:lnTo>
                  <a:pt x="18592" y="353"/>
                </a:lnTo>
                <a:cubicBezTo>
                  <a:pt x="18592" y="353"/>
                  <a:pt x="16383" y="1518"/>
                  <a:pt x="13952" y="14"/>
                </a:cubicBezTo>
                <a:cubicBezTo>
                  <a:pt x="13363" y="0"/>
                  <a:pt x="12765" y="-5"/>
                  <a:pt x="12161" y="5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9" name="Rectangle"/>
          <p:cNvSpPr/>
          <p:nvPr/>
        </p:nvSpPr>
        <p:spPr>
          <a:xfrm>
            <a:off x="11909955" y="4540101"/>
            <a:ext cx="5539781" cy="1517452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0" name="Rectangle"/>
          <p:cNvSpPr/>
          <p:nvPr/>
        </p:nvSpPr>
        <p:spPr>
          <a:xfrm>
            <a:off x="17185416" y="4505445"/>
            <a:ext cx="264319" cy="1552108"/>
          </a:xfrm>
          <a:prstGeom prst="rect">
            <a:avLst/>
          </a:prstGeom>
          <a:solidFill>
            <a:srgbClr val="50ABAD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1" name="Shape"/>
          <p:cNvSpPr/>
          <p:nvPr/>
        </p:nvSpPr>
        <p:spPr>
          <a:xfrm flipH="1">
            <a:off x="10177041" y="4522773"/>
            <a:ext cx="1586230" cy="1552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0" h="21385" extrusionOk="0">
                <a:moveTo>
                  <a:pt x="0" y="14"/>
                </a:moveTo>
                <a:lnTo>
                  <a:pt x="0" y="21385"/>
                </a:lnTo>
                <a:lnTo>
                  <a:pt x="21192" y="21385"/>
                </a:lnTo>
                <a:cubicBezTo>
                  <a:pt x="21600" y="16103"/>
                  <a:pt x="19825" y="10882"/>
                  <a:pt x="16262" y="6883"/>
                </a:cubicBezTo>
                <a:cubicBezTo>
                  <a:pt x="12188" y="2311"/>
                  <a:pt x="6208" y="-215"/>
                  <a:pt x="0" y="14"/>
                </a:cubicBezTo>
                <a:close/>
              </a:path>
            </a:pathLst>
          </a:custGeom>
          <a:solidFill>
            <a:srgbClr val="50ABA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2" name="Shape"/>
          <p:cNvSpPr/>
          <p:nvPr/>
        </p:nvSpPr>
        <p:spPr>
          <a:xfrm rot="10800000" flipH="1">
            <a:off x="11751841" y="4522773"/>
            <a:ext cx="1586230" cy="1552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0" h="21385" extrusionOk="0">
                <a:moveTo>
                  <a:pt x="0" y="14"/>
                </a:moveTo>
                <a:lnTo>
                  <a:pt x="0" y="21385"/>
                </a:lnTo>
                <a:lnTo>
                  <a:pt x="21192" y="21385"/>
                </a:lnTo>
                <a:cubicBezTo>
                  <a:pt x="21600" y="16103"/>
                  <a:pt x="19825" y="10882"/>
                  <a:pt x="16262" y="6883"/>
                </a:cubicBezTo>
                <a:cubicBezTo>
                  <a:pt x="12188" y="2311"/>
                  <a:pt x="6208" y="-215"/>
                  <a:pt x="0" y="14"/>
                </a:cubicBezTo>
                <a:close/>
              </a:path>
            </a:pathLst>
          </a:custGeom>
          <a:solidFill>
            <a:srgbClr val="50ABAD"/>
          </a:solidFill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3" name="Rectangle"/>
          <p:cNvSpPr/>
          <p:nvPr/>
        </p:nvSpPr>
        <p:spPr>
          <a:xfrm>
            <a:off x="13358310" y="3006846"/>
            <a:ext cx="5539780" cy="1517452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4" name="Rectangle"/>
          <p:cNvSpPr/>
          <p:nvPr/>
        </p:nvSpPr>
        <p:spPr>
          <a:xfrm>
            <a:off x="18633771" y="2972190"/>
            <a:ext cx="264319" cy="1552108"/>
          </a:xfrm>
          <a:prstGeom prst="rect">
            <a:avLst/>
          </a:prstGeom>
          <a:solidFill>
            <a:srgbClr val="DA8341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5" name="Shape"/>
          <p:cNvSpPr/>
          <p:nvPr/>
        </p:nvSpPr>
        <p:spPr>
          <a:xfrm flipH="1">
            <a:off x="11625396" y="2989517"/>
            <a:ext cx="1586230" cy="15521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0" h="21385" extrusionOk="0">
                <a:moveTo>
                  <a:pt x="0" y="14"/>
                </a:moveTo>
                <a:lnTo>
                  <a:pt x="0" y="21385"/>
                </a:lnTo>
                <a:lnTo>
                  <a:pt x="21192" y="21385"/>
                </a:lnTo>
                <a:cubicBezTo>
                  <a:pt x="21600" y="16103"/>
                  <a:pt x="19825" y="10882"/>
                  <a:pt x="16262" y="6883"/>
                </a:cubicBezTo>
                <a:cubicBezTo>
                  <a:pt x="12188" y="2311"/>
                  <a:pt x="6208" y="-215"/>
                  <a:pt x="0" y="14"/>
                </a:cubicBezTo>
                <a:close/>
              </a:path>
            </a:pathLst>
          </a:custGeom>
          <a:solidFill>
            <a:srgbClr val="F0B85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6" name="Shape"/>
          <p:cNvSpPr/>
          <p:nvPr/>
        </p:nvSpPr>
        <p:spPr>
          <a:xfrm rot="10800000" flipH="1">
            <a:off x="13200195" y="2989517"/>
            <a:ext cx="1586230" cy="15521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0" h="21385" extrusionOk="0">
                <a:moveTo>
                  <a:pt x="0" y="14"/>
                </a:moveTo>
                <a:lnTo>
                  <a:pt x="0" y="21385"/>
                </a:lnTo>
                <a:lnTo>
                  <a:pt x="21192" y="21385"/>
                </a:lnTo>
                <a:cubicBezTo>
                  <a:pt x="21600" y="16103"/>
                  <a:pt x="19825" y="10882"/>
                  <a:pt x="16262" y="6883"/>
                </a:cubicBezTo>
                <a:cubicBezTo>
                  <a:pt x="12188" y="2311"/>
                  <a:pt x="6208" y="-215"/>
                  <a:pt x="0" y="14"/>
                </a:cubicBezTo>
                <a:close/>
              </a:path>
            </a:pathLst>
          </a:custGeom>
          <a:solidFill>
            <a:srgbClr val="DA8341"/>
          </a:solidFill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7" name="VALIDATION METRIC"/>
          <p:cNvSpPr txBox="1"/>
          <p:nvPr/>
        </p:nvSpPr>
        <p:spPr>
          <a:xfrm>
            <a:off x="15499867" y="3325441"/>
            <a:ext cx="2420463" cy="911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lnSpc>
                <a:spcPct val="120000"/>
              </a:lnSpc>
              <a:defRPr sz="2500" spc="249">
                <a:solidFill>
                  <a:schemeClr val="accent6">
                    <a:hueOff val="-133706"/>
                    <a:satOff val="8281"/>
                    <a:lumOff val="-27269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rPr dirty="0"/>
              <a:t>VALIDATION METRIC</a:t>
            </a:r>
          </a:p>
        </p:txBody>
      </p:sp>
      <p:sp>
        <p:nvSpPr>
          <p:cNvPr id="158" name="SOLUTION AT GLANCE"/>
          <p:cNvSpPr txBox="1"/>
          <p:nvPr/>
        </p:nvSpPr>
        <p:spPr>
          <a:xfrm>
            <a:off x="11040934" y="7941560"/>
            <a:ext cx="2302131" cy="911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lnSpc>
                <a:spcPct val="120000"/>
              </a:lnSpc>
              <a:defRPr sz="2500" spc="249">
                <a:solidFill>
                  <a:schemeClr val="accent6">
                    <a:hueOff val="-133706"/>
                    <a:satOff val="8281"/>
                    <a:lumOff val="-27269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rPr dirty="0"/>
              <a:t>SOLUTION AT GLANCE</a:t>
            </a:r>
          </a:p>
        </p:txBody>
      </p:sp>
      <p:sp>
        <p:nvSpPr>
          <p:cNvPr id="159" name="4"/>
          <p:cNvSpPr txBox="1"/>
          <p:nvPr/>
        </p:nvSpPr>
        <p:spPr>
          <a:xfrm>
            <a:off x="12254077" y="4849698"/>
            <a:ext cx="530958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90000"/>
              </a:lnSpc>
              <a:defRPr spc="499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4</a:t>
            </a:r>
          </a:p>
        </p:txBody>
      </p:sp>
      <p:sp>
        <p:nvSpPr>
          <p:cNvPr id="160" name="5"/>
          <p:cNvSpPr txBox="1"/>
          <p:nvPr/>
        </p:nvSpPr>
        <p:spPr>
          <a:xfrm>
            <a:off x="13608169" y="3233895"/>
            <a:ext cx="530958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90000"/>
              </a:lnSpc>
              <a:defRPr spc="499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5</a:t>
            </a:r>
          </a:p>
        </p:txBody>
      </p:sp>
      <p:sp>
        <p:nvSpPr>
          <p:cNvPr id="161" name="Clipboard"/>
          <p:cNvSpPr/>
          <p:nvPr/>
        </p:nvSpPr>
        <p:spPr>
          <a:xfrm>
            <a:off x="10949926" y="5028345"/>
            <a:ext cx="496269" cy="7126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1" y="0"/>
                </a:moveTo>
                <a:cubicBezTo>
                  <a:pt x="9801" y="0"/>
                  <a:pt x="9330" y="294"/>
                  <a:pt x="8865" y="898"/>
                </a:cubicBezTo>
                <a:cubicBezTo>
                  <a:pt x="8394" y="1511"/>
                  <a:pt x="7651" y="1943"/>
                  <a:pt x="7089" y="1943"/>
                </a:cubicBezTo>
                <a:cubicBezTo>
                  <a:pt x="6826" y="1943"/>
                  <a:pt x="6299" y="1922"/>
                  <a:pt x="6037" y="1943"/>
                </a:cubicBezTo>
                <a:cubicBezTo>
                  <a:pt x="5104" y="2016"/>
                  <a:pt x="4553" y="2318"/>
                  <a:pt x="4308" y="2794"/>
                </a:cubicBezTo>
                <a:lnTo>
                  <a:pt x="1139" y="2794"/>
                </a:lnTo>
                <a:cubicBezTo>
                  <a:pt x="510" y="2794"/>
                  <a:pt x="0" y="3149"/>
                  <a:pt x="0" y="3587"/>
                </a:cubicBezTo>
                <a:lnTo>
                  <a:pt x="0" y="20807"/>
                </a:lnTo>
                <a:cubicBezTo>
                  <a:pt x="0" y="21245"/>
                  <a:pt x="510" y="21600"/>
                  <a:pt x="1139" y="21600"/>
                </a:cubicBezTo>
                <a:lnTo>
                  <a:pt x="20461" y="21600"/>
                </a:lnTo>
                <a:cubicBezTo>
                  <a:pt x="21090" y="21600"/>
                  <a:pt x="21600" y="21245"/>
                  <a:pt x="21600" y="20807"/>
                </a:cubicBezTo>
                <a:lnTo>
                  <a:pt x="21600" y="3587"/>
                </a:lnTo>
                <a:cubicBezTo>
                  <a:pt x="21600" y="3149"/>
                  <a:pt x="21090" y="2794"/>
                  <a:pt x="20461" y="2794"/>
                </a:cubicBezTo>
                <a:lnTo>
                  <a:pt x="17292" y="2794"/>
                </a:lnTo>
                <a:cubicBezTo>
                  <a:pt x="17047" y="2318"/>
                  <a:pt x="16496" y="2016"/>
                  <a:pt x="15563" y="1943"/>
                </a:cubicBezTo>
                <a:cubicBezTo>
                  <a:pt x="15301" y="1922"/>
                  <a:pt x="14774" y="1943"/>
                  <a:pt x="14511" y="1943"/>
                </a:cubicBezTo>
                <a:cubicBezTo>
                  <a:pt x="13949" y="1943"/>
                  <a:pt x="13209" y="1511"/>
                  <a:pt x="12738" y="898"/>
                </a:cubicBezTo>
                <a:cubicBezTo>
                  <a:pt x="12273" y="294"/>
                  <a:pt x="11802" y="0"/>
                  <a:pt x="10801" y="0"/>
                </a:cubicBezTo>
                <a:close/>
                <a:moveTo>
                  <a:pt x="10799" y="593"/>
                </a:moveTo>
                <a:cubicBezTo>
                  <a:pt x="11264" y="593"/>
                  <a:pt x="11644" y="857"/>
                  <a:pt x="11644" y="1181"/>
                </a:cubicBezTo>
                <a:cubicBezTo>
                  <a:pt x="11644" y="1506"/>
                  <a:pt x="11265" y="1767"/>
                  <a:pt x="10799" y="1767"/>
                </a:cubicBezTo>
                <a:cubicBezTo>
                  <a:pt x="10332" y="1767"/>
                  <a:pt x="9956" y="1506"/>
                  <a:pt x="9956" y="1181"/>
                </a:cubicBezTo>
                <a:cubicBezTo>
                  <a:pt x="9956" y="857"/>
                  <a:pt x="10333" y="593"/>
                  <a:pt x="10799" y="593"/>
                </a:cubicBezTo>
                <a:close/>
                <a:moveTo>
                  <a:pt x="1619" y="3923"/>
                </a:moveTo>
                <a:lnTo>
                  <a:pt x="4207" y="3923"/>
                </a:lnTo>
                <a:cubicBezTo>
                  <a:pt x="4263" y="4130"/>
                  <a:pt x="4364" y="4392"/>
                  <a:pt x="4364" y="4392"/>
                </a:cubicBezTo>
                <a:lnTo>
                  <a:pt x="10799" y="4392"/>
                </a:lnTo>
                <a:lnTo>
                  <a:pt x="17236" y="4392"/>
                </a:lnTo>
                <a:cubicBezTo>
                  <a:pt x="17236" y="4392"/>
                  <a:pt x="17337" y="4130"/>
                  <a:pt x="17393" y="3923"/>
                </a:cubicBezTo>
                <a:lnTo>
                  <a:pt x="19981" y="3923"/>
                </a:lnTo>
                <a:lnTo>
                  <a:pt x="19981" y="20471"/>
                </a:lnTo>
                <a:lnTo>
                  <a:pt x="1619" y="20471"/>
                </a:lnTo>
                <a:lnTo>
                  <a:pt x="1619" y="3923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2" name="Rectangle"/>
          <p:cNvSpPr/>
          <p:nvPr/>
        </p:nvSpPr>
        <p:spPr>
          <a:xfrm>
            <a:off x="-38009" y="-86877"/>
            <a:ext cx="2117721" cy="13789810"/>
          </a:xfrm>
          <a:prstGeom prst="rect">
            <a:avLst/>
          </a:prstGeom>
          <a:gradFill>
            <a:gsLst>
              <a:gs pos="0">
                <a:srgbClr val="2BAFC7"/>
              </a:gs>
              <a:gs pos="100000">
                <a:srgbClr val="3476A6"/>
              </a:gs>
            </a:gsLst>
            <a:lin ang="5400000"/>
          </a:gradFill>
          <a:ln w="12700">
            <a:miter lim="400000"/>
          </a:ln>
          <a:effectLst>
            <a:outerShdw blurRad="254000" dist="162150" dir="531129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3" name="AIFL - PROJECT"/>
          <p:cNvSpPr txBox="1"/>
          <p:nvPr/>
        </p:nvSpPr>
        <p:spPr>
          <a:xfrm rot="16200000">
            <a:off x="-4175015" y="7179472"/>
            <a:ext cx="10391733" cy="850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90000"/>
              </a:lnSpc>
              <a:defRPr sz="7500" spc="525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lang="en-US" sz="5400" dirty="0"/>
              <a:t>TRINADE AI TECH PVT LTD</a:t>
            </a:r>
          </a:p>
        </p:txBody>
      </p:sp>
      <p:sp>
        <p:nvSpPr>
          <p:cNvPr id="164" name="Dingbat Tick"/>
          <p:cNvSpPr/>
          <p:nvPr/>
        </p:nvSpPr>
        <p:spPr>
          <a:xfrm>
            <a:off x="12227455" y="3463863"/>
            <a:ext cx="635001" cy="603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2" h="20404" extrusionOk="0">
                <a:moveTo>
                  <a:pt x="19340" y="6"/>
                </a:moveTo>
                <a:cubicBezTo>
                  <a:pt x="18911" y="-308"/>
                  <a:pt x="8317" y="11620"/>
                  <a:pt x="6423" y="13985"/>
                </a:cubicBezTo>
                <a:cubicBezTo>
                  <a:pt x="6323" y="14108"/>
                  <a:pt x="6215" y="14226"/>
                  <a:pt x="6090" y="14370"/>
                </a:cubicBezTo>
                <a:cubicBezTo>
                  <a:pt x="5960" y="14216"/>
                  <a:pt x="5854" y="14096"/>
                  <a:pt x="5755" y="13971"/>
                </a:cubicBezTo>
                <a:cubicBezTo>
                  <a:pt x="4964" y="12967"/>
                  <a:pt x="4458" y="12167"/>
                  <a:pt x="3657" y="11171"/>
                </a:cubicBezTo>
                <a:cubicBezTo>
                  <a:pt x="3337" y="10773"/>
                  <a:pt x="2972" y="10410"/>
                  <a:pt x="2634" y="10026"/>
                </a:cubicBezTo>
                <a:cubicBezTo>
                  <a:pt x="2472" y="9843"/>
                  <a:pt x="2283" y="9849"/>
                  <a:pt x="2071" y="9915"/>
                </a:cubicBezTo>
                <a:cubicBezTo>
                  <a:pt x="1856" y="9981"/>
                  <a:pt x="1574" y="9982"/>
                  <a:pt x="1303" y="10152"/>
                </a:cubicBezTo>
                <a:cubicBezTo>
                  <a:pt x="1209" y="10262"/>
                  <a:pt x="1332" y="10438"/>
                  <a:pt x="1349" y="10609"/>
                </a:cubicBezTo>
                <a:cubicBezTo>
                  <a:pt x="1369" y="10821"/>
                  <a:pt x="603" y="10792"/>
                  <a:pt x="203" y="11061"/>
                </a:cubicBezTo>
                <a:cubicBezTo>
                  <a:pt x="111" y="11123"/>
                  <a:pt x="286" y="11375"/>
                  <a:pt x="227" y="11440"/>
                </a:cubicBezTo>
                <a:cubicBezTo>
                  <a:pt x="51" y="11634"/>
                  <a:pt x="-61" y="11588"/>
                  <a:pt x="36" y="11826"/>
                </a:cubicBezTo>
                <a:cubicBezTo>
                  <a:pt x="896" y="13941"/>
                  <a:pt x="2182" y="15733"/>
                  <a:pt x="3218" y="17879"/>
                </a:cubicBezTo>
                <a:cubicBezTo>
                  <a:pt x="4865" y="21292"/>
                  <a:pt x="5178" y="19166"/>
                  <a:pt x="5654" y="19575"/>
                </a:cubicBezTo>
                <a:cubicBezTo>
                  <a:pt x="7119" y="20836"/>
                  <a:pt x="6474" y="21179"/>
                  <a:pt x="9921" y="16770"/>
                </a:cubicBezTo>
                <a:cubicBezTo>
                  <a:pt x="11378" y="14721"/>
                  <a:pt x="19009" y="5203"/>
                  <a:pt x="20710" y="3334"/>
                </a:cubicBezTo>
                <a:cubicBezTo>
                  <a:pt x="20919" y="3106"/>
                  <a:pt x="21118" y="2879"/>
                  <a:pt x="21258" y="2594"/>
                </a:cubicBezTo>
                <a:cubicBezTo>
                  <a:pt x="21526" y="2050"/>
                  <a:pt x="21539" y="2066"/>
                  <a:pt x="21150" y="1624"/>
                </a:cubicBezTo>
                <a:cubicBezTo>
                  <a:pt x="21006" y="1461"/>
                  <a:pt x="20856" y="1427"/>
                  <a:pt x="20646" y="1437"/>
                </a:cubicBezTo>
                <a:cubicBezTo>
                  <a:pt x="20244" y="1456"/>
                  <a:pt x="20044" y="1227"/>
                  <a:pt x="20086" y="860"/>
                </a:cubicBezTo>
                <a:cubicBezTo>
                  <a:pt x="20096" y="778"/>
                  <a:pt x="20075" y="672"/>
                  <a:pt x="20023" y="612"/>
                </a:cubicBezTo>
                <a:cubicBezTo>
                  <a:pt x="19903" y="469"/>
                  <a:pt x="19492" y="117"/>
                  <a:pt x="19340" y="6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5" name="Paint Splatter"/>
          <p:cNvSpPr/>
          <p:nvPr/>
        </p:nvSpPr>
        <p:spPr>
          <a:xfrm>
            <a:off x="96908" y="226321"/>
            <a:ext cx="1847887" cy="1825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65" h="21541" extrusionOk="0">
                <a:moveTo>
                  <a:pt x="18778" y="6"/>
                </a:moveTo>
                <a:cubicBezTo>
                  <a:pt x="17680" y="134"/>
                  <a:pt x="17057" y="2145"/>
                  <a:pt x="17057" y="2145"/>
                </a:cubicBezTo>
                <a:cubicBezTo>
                  <a:pt x="16852" y="3359"/>
                  <a:pt x="15985" y="3890"/>
                  <a:pt x="15481" y="4101"/>
                </a:cubicBezTo>
                <a:cubicBezTo>
                  <a:pt x="14194" y="4297"/>
                  <a:pt x="13397" y="3507"/>
                  <a:pt x="13053" y="1869"/>
                </a:cubicBezTo>
                <a:cubicBezTo>
                  <a:pt x="12537" y="2880"/>
                  <a:pt x="11654" y="3375"/>
                  <a:pt x="10752" y="3375"/>
                </a:cubicBezTo>
                <a:cubicBezTo>
                  <a:pt x="10038" y="3375"/>
                  <a:pt x="9410" y="2981"/>
                  <a:pt x="9042" y="2385"/>
                </a:cubicBezTo>
                <a:cubicBezTo>
                  <a:pt x="9027" y="2364"/>
                  <a:pt x="9047" y="2392"/>
                  <a:pt x="9027" y="2365"/>
                </a:cubicBezTo>
                <a:cubicBezTo>
                  <a:pt x="8712" y="1939"/>
                  <a:pt x="8495" y="1267"/>
                  <a:pt x="8495" y="1267"/>
                </a:cubicBezTo>
                <a:cubicBezTo>
                  <a:pt x="8387" y="975"/>
                  <a:pt x="8079" y="832"/>
                  <a:pt x="7808" y="949"/>
                </a:cubicBezTo>
                <a:cubicBezTo>
                  <a:pt x="7536" y="1065"/>
                  <a:pt x="7403" y="1396"/>
                  <a:pt x="7512" y="1688"/>
                </a:cubicBezTo>
                <a:cubicBezTo>
                  <a:pt x="7512" y="1688"/>
                  <a:pt x="8063" y="2709"/>
                  <a:pt x="7926" y="3310"/>
                </a:cubicBezTo>
                <a:cubicBezTo>
                  <a:pt x="7837" y="3703"/>
                  <a:pt x="7904" y="4946"/>
                  <a:pt x="6218" y="5135"/>
                </a:cubicBezTo>
                <a:cubicBezTo>
                  <a:pt x="5752" y="5188"/>
                  <a:pt x="5327" y="4932"/>
                  <a:pt x="5018" y="4604"/>
                </a:cubicBezTo>
                <a:cubicBezTo>
                  <a:pt x="5009" y="4602"/>
                  <a:pt x="5000" y="4602"/>
                  <a:pt x="4991" y="4600"/>
                </a:cubicBezTo>
                <a:cubicBezTo>
                  <a:pt x="5214" y="6253"/>
                  <a:pt x="4846" y="7549"/>
                  <a:pt x="3835" y="8175"/>
                </a:cubicBezTo>
                <a:cubicBezTo>
                  <a:pt x="3057" y="8564"/>
                  <a:pt x="1662" y="8170"/>
                  <a:pt x="1662" y="8170"/>
                </a:cubicBezTo>
                <a:cubicBezTo>
                  <a:pt x="1662" y="8170"/>
                  <a:pt x="3252" y="9037"/>
                  <a:pt x="3447" y="9405"/>
                </a:cubicBezTo>
                <a:cubicBezTo>
                  <a:pt x="3642" y="9774"/>
                  <a:pt x="3739" y="10487"/>
                  <a:pt x="3611" y="11024"/>
                </a:cubicBezTo>
                <a:cubicBezTo>
                  <a:pt x="3469" y="11466"/>
                  <a:pt x="3110" y="11975"/>
                  <a:pt x="2194" y="11735"/>
                </a:cubicBezTo>
                <a:cubicBezTo>
                  <a:pt x="2194" y="11735"/>
                  <a:pt x="-293" y="11137"/>
                  <a:pt x="29" y="13686"/>
                </a:cubicBezTo>
                <a:cubicBezTo>
                  <a:pt x="29" y="13686"/>
                  <a:pt x="572" y="16056"/>
                  <a:pt x="2540" y="14422"/>
                </a:cubicBezTo>
                <a:cubicBezTo>
                  <a:pt x="3229" y="13850"/>
                  <a:pt x="3466" y="13680"/>
                  <a:pt x="3758" y="13817"/>
                </a:cubicBezTo>
                <a:cubicBezTo>
                  <a:pt x="4891" y="14598"/>
                  <a:pt x="5317" y="15680"/>
                  <a:pt x="4758" y="17390"/>
                </a:cubicBezTo>
                <a:cubicBezTo>
                  <a:pt x="7376" y="16540"/>
                  <a:pt x="8461" y="17351"/>
                  <a:pt x="8474" y="18455"/>
                </a:cubicBezTo>
                <a:cubicBezTo>
                  <a:pt x="8487" y="19560"/>
                  <a:pt x="8015" y="19973"/>
                  <a:pt x="8015" y="19973"/>
                </a:cubicBezTo>
                <a:cubicBezTo>
                  <a:pt x="7078" y="21279"/>
                  <a:pt x="8131" y="21539"/>
                  <a:pt x="8131" y="21539"/>
                </a:cubicBezTo>
                <a:cubicBezTo>
                  <a:pt x="8923" y="21597"/>
                  <a:pt x="8788" y="20282"/>
                  <a:pt x="8788" y="20282"/>
                </a:cubicBezTo>
                <a:cubicBezTo>
                  <a:pt x="8765" y="19731"/>
                  <a:pt x="8951" y="18719"/>
                  <a:pt x="9193" y="18402"/>
                </a:cubicBezTo>
                <a:cubicBezTo>
                  <a:pt x="9719" y="17713"/>
                  <a:pt x="12920" y="16968"/>
                  <a:pt x="13661" y="20186"/>
                </a:cubicBezTo>
                <a:cubicBezTo>
                  <a:pt x="13940" y="17526"/>
                  <a:pt x="16095" y="16040"/>
                  <a:pt x="16894" y="17208"/>
                </a:cubicBezTo>
                <a:cubicBezTo>
                  <a:pt x="17606" y="18250"/>
                  <a:pt x="17592" y="18779"/>
                  <a:pt x="18341" y="19048"/>
                </a:cubicBezTo>
                <a:cubicBezTo>
                  <a:pt x="18817" y="19219"/>
                  <a:pt x="19267" y="18578"/>
                  <a:pt x="19121" y="18094"/>
                </a:cubicBezTo>
                <a:cubicBezTo>
                  <a:pt x="18976" y="17610"/>
                  <a:pt x="18406" y="17609"/>
                  <a:pt x="17445" y="16640"/>
                </a:cubicBezTo>
                <a:cubicBezTo>
                  <a:pt x="16491" y="15680"/>
                  <a:pt x="17449" y="12361"/>
                  <a:pt x="18805" y="12812"/>
                </a:cubicBezTo>
                <a:cubicBezTo>
                  <a:pt x="19049" y="12893"/>
                  <a:pt x="19141" y="12986"/>
                  <a:pt x="19373" y="13014"/>
                </a:cubicBezTo>
                <a:cubicBezTo>
                  <a:pt x="19604" y="13043"/>
                  <a:pt x="19842" y="12954"/>
                  <a:pt x="19868" y="12752"/>
                </a:cubicBezTo>
                <a:cubicBezTo>
                  <a:pt x="19895" y="12550"/>
                  <a:pt x="19769" y="12416"/>
                  <a:pt x="19498" y="12345"/>
                </a:cubicBezTo>
                <a:cubicBezTo>
                  <a:pt x="19278" y="12287"/>
                  <a:pt x="19167" y="12369"/>
                  <a:pt x="18803" y="12220"/>
                </a:cubicBezTo>
                <a:cubicBezTo>
                  <a:pt x="17193" y="11564"/>
                  <a:pt x="17586" y="8705"/>
                  <a:pt x="19810" y="7865"/>
                </a:cubicBezTo>
                <a:cubicBezTo>
                  <a:pt x="17967" y="7771"/>
                  <a:pt x="16765" y="6843"/>
                  <a:pt x="16623" y="5495"/>
                </a:cubicBezTo>
                <a:cubicBezTo>
                  <a:pt x="16548" y="3927"/>
                  <a:pt x="18428" y="3479"/>
                  <a:pt x="18428" y="3479"/>
                </a:cubicBezTo>
                <a:cubicBezTo>
                  <a:pt x="21307" y="2438"/>
                  <a:pt x="19943" y="558"/>
                  <a:pt x="19943" y="558"/>
                </a:cubicBezTo>
                <a:cubicBezTo>
                  <a:pt x="19603" y="206"/>
                  <a:pt x="19290" y="41"/>
                  <a:pt x="19004" y="6"/>
                </a:cubicBezTo>
                <a:cubicBezTo>
                  <a:pt x="18927" y="-3"/>
                  <a:pt x="18851" y="-2"/>
                  <a:pt x="18778" y="6"/>
                </a:cubicBezTo>
                <a:close/>
              </a:path>
            </a:pathLst>
          </a:custGeom>
          <a:solidFill>
            <a:srgbClr val="FAFAFA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68" name="PROJECT  METRICS"/>
          <p:cNvSpPr txBox="1"/>
          <p:nvPr/>
        </p:nvSpPr>
        <p:spPr>
          <a:xfrm>
            <a:off x="13977723" y="4848197"/>
            <a:ext cx="2568041" cy="911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lnSpc>
                <a:spcPct val="120000"/>
              </a:lnSpc>
              <a:defRPr sz="2500" spc="249">
                <a:solidFill>
                  <a:schemeClr val="accent6">
                    <a:hueOff val="-133706"/>
                    <a:satOff val="8281"/>
                    <a:lumOff val="-27269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rPr dirty="0"/>
              <a:t>PROJECT  METRICS</a:t>
            </a:r>
          </a:p>
        </p:txBody>
      </p:sp>
      <p:sp>
        <p:nvSpPr>
          <p:cNvPr id="169" name="MARKET RESEARCH"/>
          <p:cNvSpPr txBox="1"/>
          <p:nvPr/>
        </p:nvSpPr>
        <p:spPr>
          <a:xfrm>
            <a:off x="11892284" y="6360351"/>
            <a:ext cx="3081205" cy="911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lnSpc>
                <a:spcPct val="120000"/>
              </a:lnSpc>
              <a:defRPr sz="2500" spc="249">
                <a:solidFill>
                  <a:schemeClr val="accent6">
                    <a:hueOff val="-133706"/>
                    <a:satOff val="8281"/>
                    <a:lumOff val="-27269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rPr dirty="0"/>
              <a:t>MARKET RESEARCH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2BC6455-33BF-4A84-ADC6-5C0A2F86EBFF}"/>
              </a:ext>
            </a:extLst>
          </p:cNvPr>
          <p:cNvPicPr/>
          <p:nvPr/>
        </p:nvPicPr>
        <p:blipFill>
          <a:blip r:embed="rId2" r:link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20" y="690464"/>
            <a:ext cx="975701" cy="816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Rectangle"/>
          <p:cNvSpPr/>
          <p:nvPr/>
        </p:nvSpPr>
        <p:spPr>
          <a:xfrm>
            <a:off x="3045239" y="4547850"/>
            <a:ext cx="8326738" cy="7191504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 marL="274320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All Banks are struggling to position their banking service in the continuously changing industry particularly in loans division. The banks already has a application but is evaluating if they should add more futures to this application and how this will affect their clients. </a:t>
            </a:r>
          </a:p>
          <a:p>
            <a:pPr marL="274320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defRPr>
                <a:solidFill>
                  <a:srgbClr val="FFFFFF"/>
                </a:solidFill>
              </a:defRPr>
            </a:pPr>
            <a:endParaRPr lang="en-US" sz="2400" dirty="0">
              <a:solidFill>
                <a:schemeClr val="bg1"/>
              </a:solidFill>
            </a:endParaRPr>
          </a:p>
          <a:p>
            <a:pPr marL="274320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defRPr>
                <a:solidFill>
                  <a:srgbClr val="FFFFFF"/>
                </a:solidFill>
              </a:defRPr>
            </a:pPr>
            <a:endParaRPr lang="en-US" sz="2400" dirty="0">
              <a:solidFill>
                <a:schemeClr val="bg1"/>
              </a:solidFill>
            </a:endParaRPr>
          </a:p>
          <a:p>
            <a:pPr marL="274320" algn="just">
              <a:lnSpc>
                <a:spcPct val="200000"/>
              </a:lnSpc>
              <a:spcBef>
                <a:spcPts val="600"/>
              </a:spcBef>
              <a:spcAft>
                <a:spcPts val="600"/>
              </a:spcAft>
              <a:defRPr>
                <a:solidFill>
                  <a:srgbClr val="FFFFFF"/>
                </a:solidFill>
              </a:defRPr>
            </a:pP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72" name="Rectangle"/>
          <p:cNvSpPr/>
          <p:nvPr/>
        </p:nvSpPr>
        <p:spPr>
          <a:xfrm>
            <a:off x="3045239" y="3850113"/>
            <a:ext cx="8326738" cy="712624"/>
          </a:xfrm>
          <a:prstGeom prst="rect">
            <a:avLst/>
          </a:prstGeom>
          <a:solidFill>
            <a:srgbClr val="CA555B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3" name="PROBLEM STATEMENT"/>
          <p:cNvSpPr txBox="1"/>
          <p:nvPr/>
        </p:nvSpPr>
        <p:spPr>
          <a:xfrm>
            <a:off x="4706115" y="3965125"/>
            <a:ext cx="5004987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30000"/>
              </a:lnSpc>
              <a:defRPr sz="2500" b="1" spc="25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PROBLEM STATEMENT</a:t>
            </a:r>
          </a:p>
        </p:txBody>
      </p:sp>
      <p:sp>
        <p:nvSpPr>
          <p:cNvPr id="174" name="Search"/>
          <p:cNvSpPr/>
          <p:nvPr/>
        </p:nvSpPr>
        <p:spPr>
          <a:xfrm>
            <a:off x="17555728" y="937520"/>
            <a:ext cx="555553" cy="6511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00" h="21502" extrusionOk="0">
                <a:moveTo>
                  <a:pt x="7928" y="4"/>
                </a:moveTo>
                <a:cubicBezTo>
                  <a:pt x="6343" y="54"/>
                  <a:pt x="4758" y="513"/>
                  <a:pt x="3383" y="1414"/>
                </a:cubicBezTo>
                <a:cubicBezTo>
                  <a:pt x="-286" y="3816"/>
                  <a:pt x="-1098" y="8454"/>
                  <a:pt x="1573" y="11753"/>
                </a:cubicBezTo>
                <a:cubicBezTo>
                  <a:pt x="3866" y="14587"/>
                  <a:pt x="8102" y="15587"/>
                  <a:pt x="11645" y="14130"/>
                </a:cubicBezTo>
                <a:lnTo>
                  <a:pt x="11895" y="14028"/>
                </a:lnTo>
                <a:lnTo>
                  <a:pt x="12039" y="14238"/>
                </a:lnTo>
                <a:cubicBezTo>
                  <a:pt x="12051" y="14256"/>
                  <a:pt x="12060" y="14269"/>
                  <a:pt x="12071" y="14282"/>
                </a:cubicBezTo>
                <a:lnTo>
                  <a:pt x="17686" y="21218"/>
                </a:lnTo>
                <a:cubicBezTo>
                  <a:pt x="17806" y="21366"/>
                  <a:pt x="17984" y="21464"/>
                  <a:pt x="18188" y="21493"/>
                </a:cubicBezTo>
                <a:cubicBezTo>
                  <a:pt x="18392" y="21522"/>
                  <a:pt x="18597" y="21479"/>
                  <a:pt x="18762" y="21371"/>
                </a:cubicBezTo>
                <a:lnTo>
                  <a:pt x="20082" y="20505"/>
                </a:lnTo>
                <a:cubicBezTo>
                  <a:pt x="20425" y="20281"/>
                  <a:pt x="20502" y="19847"/>
                  <a:pt x="20252" y="19538"/>
                </a:cubicBezTo>
                <a:lnTo>
                  <a:pt x="14637" y="12602"/>
                </a:lnTo>
                <a:cubicBezTo>
                  <a:pt x="14613" y="12572"/>
                  <a:pt x="14586" y="12546"/>
                  <a:pt x="14559" y="12521"/>
                </a:cubicBezTo>
                <a:lnTo>
                  <a:pt x="14359" y="12340"/>
                </a:lnTo>
                <a:lnTo>
                  <a:pt x="14540" y="12143"/>
                </a:lnTo>
                <a:cubicBezTo>
                  <a:pt x="16964" y="9533"/>
                  <a:pt x="17103" y="5790"/>
                  <a:pt x="14878" y="3042"/>
                </a:cubicBezTo>
                <a:cubicBezTo>
                  <a:pt x="13209" y="980"/>
                  <a:pt x="10569" y="-78"/>
                  <a:pt x="7928" y="4"/>
                </a:cubicBezTo>
                <a:close/>
                <a:moveTo>
                  <a:pt x="7952" y="1548"/>
                </a:moveTo>
                <a:cubicBezTo>
                  <a:pt x="8377" y="1533"/>
                  <a:pt x="8807" y="1556"/>
                  <a:pt x="9237" y="1617"/>
                </a:cubicBezTo>
                <a:cubicBezTo>
                  <a:pt x="10956" y="1861"/>
                  <a:pt x="12466" y="2690"/>
                  <a:pt x="13488" y="3952"/>
                </a:cubicBezTo>
                <a:cubicBezTo>
                  <a:pt x="15601" y="6562"/>
                  <a:pt x="14959" y="10231"/>
                  <a:pt x="12058" y="12131"/>
                </a:cubicBezTo>
                <a:cubicBezTo>
                  <a:pt x="10904" y="12887"/>
                  <a:pt x="9563" y="13250"/>
                  <a:pt x="8234" y="13250"/>
                </a:cubicBezTo>
                <a:cubicBezTo>
                  <a:pt x="6221" y="13250"/>
                  <a:pt x="4235" y="12415"/>
                  <a:pt x="2963" y="10843"/>
                </a:cubicBezTo>
                <a:cubicBezTo>
                  <a:pt x="850" y="8233"/>
                  <a:pt x="1491" y="4565"/>
                  <a:pt x="4393" y="2665"/>
                </a:cubicBezTo>
                <a:cubicBezTo>
                  <a:pt x="5446" y="1976"/>
                  <a:pt x="6677" y="1593"/>
                  <a:pt x="7952" y="1548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5" name="Rectangle"/>
          <p:cNvSpPr/>
          <p:nvPr/>
        </p:nvSpPr>
        <p:spPr>
          <a:xfrm>
            <a:off x="18612352" y="397449"/>
            <a:ext cx="5539780" cy="1517453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6" name="Rectangle"/>
          <p:cNvSpPr/>
          <p:nvPr/>
        </p:nvSpPr>
        <p:spPr>
          <a:xfrm>
            <a:off x="23887813" y="362793"/>
            <a:ext cx="264319" cy="1552109"/>
          </a:xfrm>
          <a:prstGeom prst="rect">
            <a:avLst/>
          </a:prstGeom>
          <a:solidFill>
            <a:srgbClr val="CA555B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7" name="Shape"/>
          <p:cNvSpPr/>
          <p:nvPr/>
        </p:nvSpPr>
        <p:spPr>
          <a:xfrm flipH="1">
            <a:off x="16879437" y="380122"/>
            <a:ext cx="1586230" cy="1552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0" h="21385" extrusionOk="0">
                <a:moveTo>
                  <a:pt x="0" y="14"/>
                </a:moveTo>
                <a:lnTo>
                  <a:pt x="0" y="21385"/>
                </a:lnTo>
                <a:lnTo>
                  <a:pt x="21192" y="21385"/>
                </a:lnTo>
                <a:cubicBezTo>
                  <a:pt x="21600" y="16103"/>
                  <a:pt x="19825" y="10882"/>
                  <a:pt x="16262" y="6883"/>
                </a:cubicBezTo>
                <a:cubicBezTo>
                  <a:pt x="12188" y="2311"/>
                  <a:pt x="6208" y="-215"/>
                  <a:pt x="0" y="14"/>
                </a:cubicBezTo>
                <a:close/>
              </a:path>
            </a:pathLst>
          </a:custGeom>
          <a:solidFill>
            <a:srgbClr val="E8606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8" name="Shape"/>
          <p:cNvSpPr/>
          <p:nvPr/>
        </p:nvSpPr>
        <p:spPr>
          <a:xfrm rot="10800000" flipH="1">
            <a:off x="18454237" y="380122"/>
            <a:ext cx="1586230" cy="1552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0" h="21385" extrusionOk="0">
                <a:moveTo>
                  <a:pt x="0" y="14"/>
                </a:moveTo>
                <a:lnTo>
                  <a:pt x="0" y="21385"/>
                </a:lnTo>
                <a:lnTo>
                  <a:pt x="21192" y="21385"/>
                </a:lnTo>
                <a:cubicBezTo>
                  <a:pt x="21600" y="16103"/>
                  <a:pt x="19825" y="10882"/>
                  <a:pt x="16262" y="6883"/>
                </a:cubicBezTo>
                <a:cubicBezTo>
                  <a:pt x="12188" y="2311"/>
                  <a:pt x="6208" y="-215"/>
                  <a:pt x="0" y="14"/>
                </a:cubicBezTo>
                <a:close/>
              </a:path>
            </a:pathLst>
          </a:custGeom>
          <a:solidFill>
            <a:srgbClr val="CA555B"/>
          </a:solidFill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79" name="OPPORTUNITY ANALYSIS"/>
          <p:cNvSpPr txBox="1"/>
          <p:nvPr/>
        </p:nvSpPr>
        <p:spPr>
          <a:xfrm>
            <a:off x="20384050" y="707048"/>
            <a:ext cx="3119082" cy="911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lnSpc>
                <a:spcPct val="120000"/>
              </a:lnSpc>
              <a:defRPr sz="2500" spc="249">
                <a:solidFill>
                  <a:schemeClr val="accent6">
                    <a:hueOff val="-133706"/>
                    <a:satOff val="8281"/>
                    <a:lumOff val="-27269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t>OPPORTUNITY ANALYSIS</a:t>
            </a:r>
          </a:p>
        </p:txBody>
      </p:sp>
      <p:sp>
        <p:nvSpPr>
          <p:cNvPr id="180" name="1"/>
          <p:cNvSpPr txBox="1"/>
          <p:nvPr/>
        </p:nvSpPr>
        <p:spPr>
          <a:xfrm>
            <a:off x="18931073" y="707048"/>
            <a:ext cx="530958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90000"/>
              </a:lnSpc>
              <a:defRPr spc="499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1</a:t>
            </a:r>
          </a:p>
        </p:txBody>
      </p:sp>
      <p:sp>
        <p:nvSpPr>
          <p:cNvPr id="181" name="Paint Splatter"/>
          <p:cNvSpPr/>
          <p:nvPr/>
        </p:nvSpPr>
        <p:spPr>
          <a:xfrm>
            <a:off x="17278495" y="851840"/>
            <a:ext cx="832787" cy="8224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65" h="21541" extrusionOk="0">
                <a:moveTo>
                  <a:pt x="18778" y="6"/>
                </a:moveTo>
                <a:cubicBezTo>
                  <a:pt x="17680" y="134"/>
                  <a:pt x="17057" y="2145"/>
                  <a:pt x="17057" y="2145"/>
                </a:cubicBezTo>
                <a:cubicBezTo>
                  <a:pt x="16852" y="3359"/>
                  <a:pt x="15985" y="3890"/>
                  <a:pt x="15481" y="4101"/>
                </a:cubicBezTo>
                <a:cubicBezTo>
                  <a:pt x="14194" y="4297"/>
                  <a:pt x="13397" y="3507"/>
                  <a:pt x="13053" y="1869"/>
                </a:cubicBezTo>
                <a:cubicBezTo>
                  <a:pt x="12537" y="2880"/>
                  <a:pt x="11654" y="3375"/>
                  <a:pt x="10752" y="3375"/>
                </a:cubicBezTo>
                <a:cubicBezTo>
                  <a:pt x="10038" y="3375"/>
                  <a:pt x="9410" y="2981"/>
                  <a:pt x="9042" y="2385"/>
                </a:cubicBezTo>
                <a:cubicBezTo>
                  <a:pt x="9027" y="2364"/>
                  <a:pt x="9047" y="2392"/>
                  <a:pt x="9027" y="2365"/>
                </a:cubicBezTo>
                <a:cubicBezTo>
                  <a:pt x="8712" y="1939"/>
                  <a:pt x="8495" y="1267"/>
                  <a:pt x="8495" y="1267"/>
                </a:cubicBezTo>
                <a:cubicBezTo>
                  <a:pt x="8387" y="975"/>
                  <a:pt x="8079" y="832"/>
                  <a:pt x="7808" y="949"/>
                </a:cubicBezTo>
                <a:cubicBezTo>
                  <a:pt x="7536" y="1065"/>
                  <a:pt x="7403" y="1396"/>
                  <a:pt x="7512" y="1688"/>
                </a:cubicBezTo>
                <a:cubicBezTo>
                  <a:pt x="7512" y="1688"/>
                  <a:pt x="8063" y="2709"/>
                  <a:pt x="7926" y="3310"/>
                </a:cubicBezTo>
                <a:cubicBezTo>
                  <a:pt x="7837" y="3703"/>
                  <a:pt x="7904" y="4946"/>
                  <a:pt x="6218" y="5135"/>
                </a:cubicBezTo>
                <a:cubicBezTo>
                  <a:pt x="5752" y="5188"/>
                  <a:pt x="5327" y="4932"/>
                  <a:pt x="5018" y="4604"/>
                </a:cubicBezTo>
                <a:cubicBezTo>
                  <a:pt x="5009" y="4602"/>
                  <a:pt x="5000" y="4602"/>
                  <a:pt x="4991" y="4600"/>
                </a:cubicBezTo>
                <a:cubicBezTo>
                  <a:pt x="5214" y="6253"/>
                  <a:pt x="4846" y="7549"/>
                  <a:pt x="3835" y="8175"/>
                </a:cubicBezTo>
                <a:cubicBezTo>
                  <a:pt x="3057" y="8564"/>
                  <a:pt x="1662" y="8170"/>
                  <a:pt x="1662" y="8170"/>
                </a:cubicBezTo>
                <a:cubicBezTo>
                  <a:pt x="1662" y="8170"/>
                  <a:pt x="3252" y="9037"/>
                  <a:pt x="3447" y="9405"/>
                </a:cubicBezTo>
                <a:cubicBezTo>
                  <a:pt x="3642" y="9774"/>
                  <a:pt x="3739" y="10487"/>
                  <a:pt x="3611" y="11024"/>
                </a:cubicBezTo>
                <a:cubicBezTo>
                  <a:pt x="3469" y="11466"/>
                  <a:pt x="3110" y="11975"/>
                  <a:pt x="2194" y="11735"/>
                </a:cubicBezTo>
                <a:cubicBezTo>
                  <a:pt x="2194" y="11735"/>
                  <a:pt x="-293" y="11137"/>
                  <a:pt x="29" y="13686"/>
                </a:cubicBezTo>
                <a:cubicBezTo>
                  <a:pt x="29" y="13686"/>
                  <a:pt x="572" y="16056"/>
                  <a:pt x="2540" y="14422"/>
                </a:cubicBezTo>
                <a:cubicBezTo>
                  <a:pt x="3229" y="13850"/>
                  <a:pt x="3466" y="13680"/>
                  <a:pt x="3758" y="13817"/>
                </a:cubicBezTo>
                <a:cubicBezTo>
                  <a:pt x="4891" y="14598"/>
                  <a:pt x="5317" y="15680"/>
                  <a:pt x="4758" y="17390"/>
                </a:cubicBezTo>
                <a:cubicBezTo>
                  <a:pt x="7376" y="16540"/>
                  <a:pt x="8461" y="17351"/>
                  <a:pt x="8474" y="18455"/>
                </a:cubicBezTo>
                <a:cubicBezTo>
                  <a:pt x="8487" y="19560"/>
                  <a:pt x="8015" y="19973"/>
                  <a:pt x="8015" y="19973"/>
                </a:cubicBezTo>
                <a:cubicBezTo>
                  <a:pt x="7078" y="21279"/>
                  <a:pt x="8131" y="21539"/>
                  <a:pt x="8131" y="21539"/>
                </a:cubicBezTo>
                <a:cubicBezTo>
                  <a:pt x="8923" y="21597"/>
                  <a:pt x="8788" y="20282"/>
                  <a:pt x="8788" y="20282"/>
                </a:cubicBezTo>
                <a:cubicBezTo>
                  <a:pt x="8765" y="19731"/>
                  <a:pt x="8951" y="18719"/>
                  <a:pt x="9193" y="18402"/>
                </a:cubicBezTo>
                <a:cubicBezTo>
                  <a:pt x="9719" y="17713"/>
                  <a:pt x="12920" y="16968"/>
                  <a:pt x="13661" y="20186"/>
                </a:cubicBezTo>
                <a:cubicBezTo>
                  <a:pt x="13940" y="17526"/>
                  <a:pt x="16095" y="16040"/>
                  <a:pt x="16894" y="17208"/>
                </a:cubicBezTo>
                <a:cubicBezTo>
                  <a:pt x="17606" y="18250"/>
                  <a:pt x="17592" y="18779"/>
                  <a:pt x="18341" y="19048"/>
                </a:cubicBezTo>
                <a:cubicBezTo>
                  <a:pt x="18817" y="19219"/>
                  <a:pt x="19267" y="18578"/>
                  <a:pt x="19121" y="18094"/>
                </a:cubicBezTo>
                <a:cubicBezTo>
                  <a:pt x="18976" y="17610"/>
                  <a:pt x="18406" y="17609"/>
                  <a:pt x="17445" y="16640"/>
                </a:cubicBezTo>
                <a:cubicBezTo>
                  <a:pt x="16491" y="15680"/>
                  <a:pt x="17449" y="12361"/>
                  <a:pt x="18805" y="12812"/>
                </a:cubicBezTo>
                <a:cubicBezTo>
                  <a:pt x="19049" y="12893"/>
                  <a:pt x="19141" y="12986"/>
                  <a:pt x="19373" y="13014"/>
                </a:cubicBezTo>
                <a:cubicBezTo>
                  <a:pt x="19605" y="13043"/>
                  <a:pt x="19842" y="12954"/>
                  <a:pt x="19868" y="12752"/>
                </a:cubicBezTo>
                <a:cubicBezTo>
                  <a:pt x="19895" y="12550"/>
                  <a:pt x="19769" y="12416"/>
                  <a:pt x="19498" y="12345"/>
                </a:cubicBezTo>
                <a:cubicBezTo>
                  <a:pt x="19278" y="12287"/>
                  <a:pt x="19167" y="12369"/>
                  <a:pt x="18803" y="12220"/>
                </a:cubicBezTo>
                <a:cubicBezTo>
                  <a:pt x="17193" y="11564"/>
                  <a:pt x="17586" y="8705"/>
                  <a:pt x="19810" y="7865"/>
                </a:cubicBezTo>
                <a:cubicBezTo>
                  <a:pt x="17967" y="7771"/>
                  <a:pt x="16765" y="6843"/>
                  <a:pt x="16623" y="5495"/>
                </a:cubicBezTo>
                <a:cubicBezTo>
                  <a:pt x="16548" y="3927"/>
                  <a:pt x="18428" y="3479"/>
                  <a:pt x="18428" y="3479"/>
                </a:cubicBezTo>
                <a:cubicBezTo>
                  <a:pt x="21307" y="2438"/>
                  <a:pt x="19943" y="558"/>
                  <a:pt x="19943" y="558"/>
                </a:cubicBezTo>
                <a:cubicBezTo>
                  <a:pt x="19603" y="206"/>
                  <a:pt x="19290" y="41"/>
                  <a:pt x="19004" y="6"/>
                </a:cubicBezTo>
                <a:cubicBezTo>
                  <a:pt x="18927" y="-3"/>
                  <a:pt x="18851" y="-2"/>
                  <a:pt x="18778" y="6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2" name="Rectangle"/>
          <p:cNvSpPr/>
          <p:nvPr/>
        </p:nvSpPr>
        <p:spPr>
          <a:xfrm>
            <a:off x="-38009" y="-86877"/>
            <a:ext cx="2117721" cy="13789810"/>
          </a:xfrm>
          <a:prstGeom prst="rect">
            <a:avLst/>
          </a:prstGeom>
          <a:gradFill>
            <a:gsLst>
              <a:gs pos="0">
                <a:srgbClr val="2BAFC7"/>
              </a:gs>
              <a:gs pos="100000">
                <a:srgbClr val="3476A6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3" name="AIFL - PROJECT"/>
          <p:cNvSpPr txBox="1"/>
          <p:nvPr/>
        </p:nvSpPr>
        <p:spPr>
          <a:xfrm rot="16200000">
            <a:off x="-4175015" y="7034049"/>
            <a:ext cx="10391733" cy="114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90000"/>
              </a:lnSpc>
              <a:defRPr sz="7500" spc="525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lang="en-US" dirty="0"/>
              <a:t>TRINADE</a:t>
            </a:r>
            <a:r>
              <a:rPr dirty="0"/>
              <a:t> - PROJECT</a:t>
            </a:r>
          </a:p>
        </p:txBody>
      </p:sp>
      <p:sp>
        <p:nvSpPr>
          <p:cNvPr id="184" name="Rectangle"/>
          <p:cNvSpPr/>
          <p:nvPr/>
        </p:nvSpPr>
        <p:spPr>
          <a:xfrm>
            <a:off x="12326104" y="4491783"/>
            <a:ext cx="11163238" cy="7191505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5" name="Rectangle"/>
          <p:cNvSpPr/>
          <p:nvPr/>
        </p:nvSpPr>
        <p:spPr>
          <a:xfrm>
            <a:off x="12337504" y="3821626"/>
            <a:ext cx="11236893" cy="712624"/>
          </a:xfrm>
          <a:prstGeom prst="rect">
            <a:avLst/>
          </a:prstGeom>
          <a:solidFill>
            <a:srgbClr val="CA555B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6" name="LIST OF PAIN POINTS"/>
          <p:cNvSpPr txBox="1"/>
          <p:nvPr/>
        </p:nvSpPr>
        <p:spPr>
          <a:xfrm>
            <a:off x="15405230" y="3966859"/>
            <a:ext cx="5004987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30000"/>
              </a:lnSpc>
              <a:defRPr sz="2500" b="1" spc="25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LIST OF PAIN POINTS</a:t>
            </a:r>
          </a:p>
        </p:txBody>
      </p:sp>
      <p:sp>
        <p:nvSpPr>
          <p:cNvPr id="187" name="Shape"/>
          <p:cNvSpPr/>
          <p:nvPr/>
        </p:nvSpPr>
        <p:spPr>
          <a:xfrm>
            <a:off x="16775827" y="7701191"/>
            <a:ext cx="2461654" cy="35411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54" h="21598" extrusionOk="0">
                <a:moveTo>
                  <a:pt x="9241" y="0"/>
                </a:moveTo>
                <a:cubicBezTo>
                  <a:pt x="8623" y="3"/>
                  <a:pt x="8010" y="322"/>
                  <a:pt x="8004" y="946"/>
                </a:cubicBezTo>
                <a:cubicBezTo>
                  <a:pt x="7999" y="1470"/>
                  <a:pt x="7929" y="8910"/>
                  <a:pt x="7929" y="8910"/>
                </a:cubicBezTo>
                <a:cubicBezTo>
                  <a:pt x="7929" y="8910"/>
                  <a:pt x="7821" y="8926"/>
                  <a:pt x="7701" y="8942"/>
                </a:cubicBezTo>
                <a:cubicBezTo>
                  <a:pt x="7581" y="8958"/>
                  <a:pt x="7449" y="8974"/>
                  <a:pt x="7399" y="8974"/>
                </a:cubicBezTo>
                <a:cubicBezTo>
                  <a:pt x="7399" y="8974"/>
                  <a:pt x="5801" y="2575"/>
                  <a:pt x="5675" y="1884"/>
                </a:cubicBezTo>
                <a:cubicBezTo>
                  <a:pt x="5460" y="700"/>
                  <a:pt x="3262" y="854"/>
                  <a:pt x="3420" y="2122"/>
                </a:cubicBezTo>
                <a:cubicBezTo>
                  <a:pt x="3487" y="2667"/>
                  <a:pt x="4637" y="9621"/>
                  <a:pt x="4637" y="9621"/>
                </a:cubicBezTo>
                <a:lnTo>
                  <a:pt x="4100" y="9812"/>
                </a:lnTo>
                <a:cubicBezTo>
                  <a:pt x="4100" y="9812"/>
                  <a:pt x="2546" y="6213"/>
                  <a:pt x="2124" y="5128"/>
                </a:cubicBezTo>
                <a:cubicBezTo>
                  <a:pt x="1683" y="3995"/>
                  <a:pt x="-325" y="4416"/>
                  <a:pt x="45" y="5576"/>
                </a:cubicBezTo>
                <a:cubicBezTo>
                  <a:pt x="204" y="6073"/>
                  <a:pt x="930" y="9056"/>
                  <a:pt x="1691" y="11289"/>
                </a:cubicBezTo>
                <a:cubicBezTo>
                  <a:pt x="2402" y="14522"/>
                  <a:pt x="3401" y="16636"/>
                  <a:pt x="3675" y="19027"/>
                </a:cubicBezTo>
                <a:cubicBezTo>
                  <a:pt x="3774" y="19888"/>
                  <a:pt x="3796" y="20762"/>
                  <a:pt x="3791" y="21598"/>
                </a:cubicBezTo>
                <a:cubicBezTo>
                  <a:pt x="5651" y="21485"/>
                  <a:pt x="7518" y="21439"/>
                  <a:pt x="9385" y="21459"/>
                </a:cubicBezTo>
                <a:cubicBezTo>
                  <a:pt x="10690" y="21473"/>
                  <a:pt x="11995" y="21519"/>
                  <a:pt x="13296" y="21598"/>
                </a:cubicBezTo>
                <a:cubicBezTo>
                  <a:pt x="13296" y="18355"/>
                  <a:pt x="17266" y="16479"/>
                  <a:pt x="18181" y="15015"/>
                </a:cubicBezTo>
                <a:cubicBezTo>
                  <a:pt x="18213" y="14964"/>
                  <a:pt x="19620" y="12585"/>
                  <a:pt x="20198" y="11608"/>
                </a:cubicBezTo>
                <a:cubicBezTo>
                  <a:pt x="20356" y="11341"/>
                  <a:pt x="20444" y="11057"/>
                  <a:pt x="20458" y="10768"/>
                </a:cubicBezTo>
                <a:cubicBezTo>
                  <a:pt x="20485" y="10213"/>
                  <a:pt x="20558" y="9282"/>
                  <a:pt x="20735" y="9028"/>
                </a:cubicBezTo>
                <a:cubicBezTo>
                  <a:pt x="21275" y="8248"/>
                  <a:pt x="21229" y="7659"/>
                  <a:pt x="19813" y="7927"/>
                </a:cubicBezTo>
                <a:cubicBezTo>
                  <a:pt x="18121" y="8247"/>
                  <a:pt x="17427" y="10409"/>
                  <a:pt x="17427" y="10409"/>
                </a:cubicBezTo>
                <a:lnTo>
                  <a:pt x="16041" y="12125"/>
                </a:lnTo>
                <a:lnTo>
                  <a:pt x="15280" y="12313"/>
                </a:lnTo>
                <a:lnTo>
                  <a:pt x="14521" y="9417"/>
                </a:lnTo>
                <a:cubicBezTo>
                  <a:pt x="14521" y="9417"/>
                  <a:pt x="14899" y="2984"/>
                  <a:pt x="15008" y="1961"/>
                </a:cubicBezTo>
                <a:cubicBezTo>
                  <a:pt x="15120" y="912"/>
                  <a:pt x="13017" y="708"/>
                  <a:pt x="12778" y="1791"/>
                </a:cubicBezTo>
                <a:cubicBezTo>
                  <a:pt x="12639" y="2422"/>
                  <a:pt x="11563" y="7848"/>
                  <a:pt x="11333" y="8824"/>
                </a:cubicBezTo>
                <a:lnTo>
                  <a:pt x="10797" y="8800"/>
                </a:lnTo>
                <a:cubicBezTo>
                  <a:pt x="10797" y="8800"/>
                  <a:pt x="10538" y="1503"/>
                  <a:pt x="10513" y="956"/>
                </a:cubicBezTo>
                <a:cubicBezTo>
                  <a:pt x="10483" y="313"/>
                  <a:pt x="9859" y="-2"/>
                  <a:pt x="9241" y="0"/>
                </a:cubicBezTo>
                <a:close/>
              </a:path>
            </a:pathLst>
          </a:custGeom>
          <a:solidFill>
            <a:srgbClr val="CA555B"/>
          </a:solidFill>
          <a:ln w="12700">
            <a:miter lim="400000"/>
          </a:ln>
          <a:effectLst>
            <a:outerShdw blurRad="139700" dist="110403" dir="5400000" rotWithShape="0">
              <a:schemeClr val="accent6">
                <a:satOff val="1848"/>
                <a:lumOff val="-15262"/>
                <a:alpha val="2031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88" name="Line"/>
          <p:cNvSpPr/>
          <p:nvPr/>
        </p:nvSpPr>
        <p:spPr>
          <a:xfrm flipV="1">
            <a:off x="18328141" y="7095270"/>
            <a:ext cx="1" cy="643858"/>
          </a:xfrm>
          <a:prstGeom prst="line">
            <a:avLst/>
          </a:prstGeom>
          <a:ln w="12700">
            <a:solidFill>
              <a:srgbClr val="5A5F5E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89" name="Line"/>
          <p:cNvSpPr/>
          <p:nvPr/>
        </p:nvSpPr>
        <p:spPr>
          <a:xfrm>
            <a:off x="18348053" y="7103072"/>
            <a:ext cx="1028254" cy="1"/>
          </a:xfrm>
          <a:prstGeom prst="line">
            <a:avLst/>
          </a:prstGeom>
          <a:ln w="12700">
            <a:solidFill>
              <a:srgbClr val="5A5F5E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90" name="Line"/>
          <p:cNvSpPr/>
          <p:nvPr/>
        </p:nvSpPr>
        <p:spPr>
          <a:xfrm>
            <a:off x="15996713" y="8514328"/>
            <a:ext cx="555553" cy="1"/>
          </a:xfrm>
          <a:prstGeom prst="line">
            <a:avLst/>
          </a:prstGeom>
          <a:ln w="12700">
            <a:solidFill>
              <a:srgbClr val="5A5F5E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91" name="Line"/>
          <p:cNvSpPr/>
          <p:nvPr/>
        </p:nvSpPr>
        <p:spPr>
          <a:xfrm flipV="1">
            <a:off x="17809048" y="6044178"/>
            <a:ext cx="1" cy="1406328"/>
          </a:xfrm>
          <a:prstGeom prst="line">
            <a:avLst/>
          </a:prstGeom>
          <a:ln w="12700">
            <a:solidFill>
              <a:srgbClr val="5A5F5E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92" name="PAIN POINT"/>
          <p:cNvSpPr txBox="1"/>
          <p:nvPr/>
        </p:nvSpPr>
        <p:spPr>
          <a:xfrm>
            <a:off x="14593441" y="9637273"/>
            <a:ext cx="2097331" cy="816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lnSpc>
                <a:spcPct val="120000"/>
              </a:lnSpc>
              <a:defRPr sz="2000" spc="140">
                <a:solidFill>
                  <a:schemeClr val="accent6">
                    <a:satOff val="1848"/>
                    <a:lumOff val="-15262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algn="ctr"/>
            <a:r>
              <a:rPr lang="en-US" dirty="0"/>
              <a:t>Security measures</a:t>
            </a:r>
            <a:endParaRPr dirty="0"/>
          </a:p>
        </p:txBody>
      </p:sp>
      <p:sp>
        <p:nvSpPr>
          <p:cNvPr id="193" name="PAIN POINT"/>
          <p:cNvSpPr txBox="1"/>
          <p:nvPr/>
        </p:nvSpPr>
        <p:spPr>
          <a:xfrm>
            <a:off x="19375964" y="6883950"/>
            <a:ext cx="2097331" cy="447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20000"/>
              </a:lnSpc>
              <a:defRPr sz="2000" spc="140">
                <a:solidFill>
                  <a:schemeClr val="accent6">
                    <a:satOff val="1848"/>
                    <a:lumOff val="-15262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rPr lang="en-US" dirty="0"/>
              <a:t>Legal issues </a:t>
            </a:r>
            <a:endParaRPr dirty="0"/>
          </a:p>
        </p:txBody>
      </p:sp>
      <p:sp>
        <p:nvSpPr>
          <p:cNvPr id="194" name="Line"/>
          <p:cNvSpPr/>
          <p:nvPr/>
        </p:nvSpPr>
        <p:spPr>
          <a:xfrm>
            <a:off x="19232250" y="8911409"/>
            <a:ext cx="712624" cy="1"/>
          </a:xfrm>
          <a:prstGeom prst="line">
            <a:avLst/>
          </a:prstGeom>
          <a:ln w="12700">
            <a:solidFill>
              <a:srgbClr val="5A5F5E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95" name="PAIN POINT"/>
          <p:cNvSpPr txBox="1"/>
          <p:nvPr/>
        </p:nvSpPr>
        <p:spPr>
          <a:xfrm>
            <a:off x="16274489" y="5330153"/>
            <a:ext cx="3092858" cy="447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lnSpc>
                <a:spcPct val="120000"/>
              </a:lnSpc>
              <a:defRPr sz="2000" spc="140">
                <a:solidFill>
                  <a:schemeClr val="accent6">
                    <a:satOff val="1848"/>
                    <a:lumOff val="-15262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rPr lang="en-US" dirty="0"/>
              <a:t>Web service calls</a:t>
            </a:r>
            <a:endParaRPr dirty="0"/>
          </a:p>
        </p:txBody>
      </p:sp>
      <p:sp>
        <p:nvSpPr>
          <p:cNvPr id="196" name="PAIN POINT"/>
          <p:cNvSpPr txBox="1"/>
          <p:nvPr/>
        </p:nvSpPr>
        <p:spPr>
          <a:xfrm>
            <a:off x="13111514" y="6837818"/>
            <a:ext cx="2461654" cy="447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lnSpc>
                <a:spcPct val="120000"/>
              </a:lnSpc>
              <a:defRPr sz="2000" spc="140">
                <a:solidFill>
                  <a:schemeClr val="accent6">
                    <a:satOff val="1848"/>
                    <a:lumOff val="-15262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pPr algn="ctr"/>
            <a:r>
              <a:rPr lang="en-US" dirty="0"/>
              <a:t>Implementation</a:t>
            </a:r>
            <a:endParaRPr dirty="0"/>
          </a:p>
        </p:txBody>
      </p:sp>
      <p:sp>
        <p:nvSpPr>
          <p:cNvPr id="197" name="Line"/>
          <p:cNvSpPr/>
          <p:nvPr/>
        </p:nvSpPr>
        <p:spPr>
          <a:xfrm flipV="1">
            <a:off x="17295612" y="7095270"/>
            <a:ext cx="1" cy="643858"/>
          </a:xfrm>
          <a:prstGeom prst="line">
            <a:avLst/>
          </a:prstGeom>
          <a:ln w="12700">
            <a:solidFill>
              <a:srgbClr val="5A5F5E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98" name="Line"/>
          <p:cNvSpPr/>
          <p:nvPr/>
        </p:nvSpPr>
        <p:spPr>
          <a:xfrm>
            <a:off x="15710075" y="7061468"/>
            <a:ext cx="1586229" cy="1"/>
          </a:xfrm>
          <a:prstGeom prst="line">
            <a:avLst/>
          </a:prstGeom>
          <a:ln w="12700">
            <a:solidFill>
              <a:srgbClr val="5A5F5E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199" name="Paint Splatter"/>
          <p:cNvSpPr/>
          <p:nvPr/>
        </p:nvSpPr>
        <p:spPr>
          <a:xfrm>
            <a:off x="96908" y="226321"/>
            <a:ext cx="1847887" cy="1825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65" h="21541" extrusionOk="0">
                <a:moveTo>
                  <a:pt x="18778" y="6"/>
                </a:moveTo>
                <a:cubicBezTo>
                  <a:pt x="17680" y="134"/>
                  <a:pt x="17057" y="2145"/>
                  <a:pt x="17057" y="2145"/>
                </a:cubicBezTo>
                <a:cubicBezTo>
                  <a:pt x="16852" y="3359"/>
                  <a:pt x="15985" y="3890"/>
                  <a:pt x="15481" y="4101"/>
                </a:cubicBezTo>
                <a:cubicBezTo>
                  <a:pt x="14194" y="4297"/>
                  <a:pt x="13397" y="3507"/>
                  <a:pt x="13053" y="1869"/>
                </a:cubicBezTo>
                <a:cubicBezTo>
                  <a:pt x="12537" y="2880"/>
                  <a:pt x="11654" y="3375"/>
                  <a:pt x="10752" y="3375"/>
                </a:cubicBezTo>
                <a:cubicBezTo>
                  <a:pt x="10038" y="3375"/>
                  <a:pt x="9410" y="2981"/>
                  <a:pt x="9042" y="2385"/>
                </a:cubicBezTo>
                <a:cubicBezTo>
                  <a:pt x="9027" y="2364"/>
                  <a:pt x="9047" y="2392"/>
                  <a:pt x="9027" y="2365"/>
                </a:cubicBezTo>
                <a:cubicBezTo>
                  <a:pt x="8712" y="1939"/>
                  <a:pt x="8495" y="1267"/>
                  <a:pt x="8495" y="1267"/>
                </a:cubicBezTo>
                <a:cubicBezTo>
                  <a:pt x="8387" y="975"/>
                  <a:pt x="8079" y="832"/>
                  <a:pt x="7808" y="949"/>
                </a:cubicBezTo>
                <a:cubicBezTo>
                  <a:pt x="7536" y="1065"/>
                  <a:pt x="7403" y="1396"/>
                  <a:pt x="7512" y="1688"/>
                </a:cubicBezTo>
                <a:cubicBezTo>
                  <a:pt x="7512" y="1688"/>
                  <a:pt x="8063" y="2709"/>
                  <a:pt x="7926" y="3310"/>
                </a:cubicBezTo>
                <a:cubicBezTo>
                  <a:pt x="7837" y="3703"/>
                  <a:pt x="7904" y="4946"/>
                  <a:pt x="6218" y="5135"/>
                </a:cubicBezTo>
                <a:cubicBezTo>
                  <a:pt x="5752" y="5188"/>
                  <a:pt x="5327" y="4932"/>
                  <a:pt x="5018" y="4604"/>
                </a:cubicBezTo>
                <a:cubicBezTo>
                  <a:pt x="5009" y="4602"/>
                  <a:pt x="5000" y="4602"/>
                  <a:pt x="4991" y="4600"/>
                </a:cubicBezTo>
                <a:cubicBezTo>
                  <a:pt x="5214" y="6253"/>
                  <a:pt x="4846" y="7549"/>
                  <a:pt x="3835" y="8175"/>
                </a:cubicBezTo>
                <a:cubicBezTo>
                  <a:pt x="3057" y="8564"/>
                  <a:pt x="1662" y="8170"/>
                  <a:pt x="1662" y="8170"/>
                </a:cubicBezTo>
                <a:cubicBezTo>
                  <a:pt x="1662" y="8170"/>
                  <a:pt x="3252" y="9037"/>
                  <a:pt x="3447" y="9405"/>
                </a:cubicBezTo>
                <a:cubicBezTo>
                  <a:pt x="3642" y="9774"/>
                  <a:pt x="3739" y="10487"/>
                  <a:pt x="3611" y="11024"/>
                </a:cubicBezTo>
                <a:cubicBezTo>
                  <a:pt x="3469" y="11466"/>
                  <a:pt x="3110" y="11975"/>
                  <a:pt x="2194" y="11735"/>
                </a:cubicBezTo>
                <a:cubicBezTo>
                  <a:pt x="2194" y="11735"/>
                  <a:pt x="-293" y="11137"/>
                  <a:pt x="29" y="13686"/>
                </a:cubicBezTo>
                <a:cubicBezTo>
                  <a:pt x="29" y="13686"/>
                  <a:pt x="572" y="16056"/>
                  <a:pt x="2540" y="14422"/>
                </a:cubicBezTo>
                <a:cubicBezTo>
                  <a:pt x="3229" y="13850"/>
                  <a:pt x="3466" y="13680"/>
                  <a:pt x="3758" y="13817"/>
                </a:cubicBezTo>
                <a:cubicBezTo>
                  <a:pt x="4891" y="14598"/>
                  <a:pt x="5317" y="15680"/>
                  <a:pt x="4758" y="17390"/>
                </a:cubicBezTo>
                <a:cubicBezTo>
                  <a:pt x="7376" y="16540"/>
                  <a:pt x="8461" y="17351"/>
                  <a:pt x="8474" y="18455"/>
                </a:cubicBezTo>
                <a:cubicBezTo>
                  <a:pt x="8487" y="19560"/>
                  <a:pt x="8015" y="19973"/>
                  <a:pt x="8015" y="19973"/>
                </a:cubicBezTo>
                <a:cubicBezTo>
                  <a:pt x="7078" y="21279"/>
                  <a:pt x="8131" y="21539"/>
                  <a:pt x="8131" y="21539"/>
                </a:cubicBezTo>
                <a:cubicBezTo>
                  <a:pt x="8923" y="21597"/>
                  <a:pt x="8788" y="20282"/>
                  <a:pt x="8788" y="20282"/>
                </a:cubicBezTo>
                <a:cubicBezTo>
                  <a:pt x="8765" y="19731"/>
                  <a:pt x="8951" y="18719"/>
                  <a:pt x="9193" y="18402"/>
                </a:cubicBezTo>
                <a:cubicBezTo>
                  <a:pt x="9719" y="17713"/>
                  <a:pt x="12920" y="16968"/>
                  <a:pt x="13661" y="20186"/>
                </a:cubicBezTo>
                <a:cubicBezTo>
                  <a:pt x="13940" y="17526"/>
                  <a:pt x="16095" y="16040"/>
                  <a:pt x="16894" y="17208"/>
                </a:cubicBezTo>
                <a:cubicBezTo>
                  <a:pt x="17606" y="18250"/>
                  <a:pt x="17592" y="18779"/>
                  <a:pt x="18341" y="19048"/>
                </a:cubicBezTo>
                <a:cubicBezTo>
                  <a:pt x="18817" y="19219"/>
                  <a:pt x="19267" y="18578"/>
                  <a:pt x="19121" y="18094"/>
                </a:cubicBezTo>
                <a:cubicBezTo>
                  <a:pt x="18976" y="17610"/>
                  <a:pt x="18406" y="17609"/>
                  <a:pt x="17445" y="16640"/>
                </a:cubicBezTo>
                <a:cubicBezTo>
                  <a:pt x="16491" y="15680"/>
                  <a:pt x="17449" y="12361"/>
                  <a:pt x="18805" y="12812"/>
                </a:cubicBezTo>
                <a:cubicBezTo>
                  <a:pt x="19049" y="12893"/>
                  <a:pt x="19141" y="12986"/>
                  <a:pt x="19373" y="13014"/>
                </a:cubicBezTo>
                <a:cubicBezTo>
                  <a:pt x="19604" y="13043"/>
                  <a:pt x="19842" y="12954"/>
                  <a:pt x="19868" y="12752"/>
                </a:cubicBezTo>
                <a:cubicBezTo>
                  <a:pt x="19895" y="12550"/>
                  <a:pt x="19769" y="12416"/>
                  <a:pt x="19498" y="12345"/>
                </a:cubicBezTo>
                <a:cubicBezTo>
                  <a:pt x="19278" y="12287"/>
                  <a:pt x="19167" y="12369"/>
                  <a:pt x="18803" y="12220"/>
                </a:cubicBezTo>
                <a:cubicBezTo>
                  <a:pt x="17193" y="11564"/>
                  <a:pt x="17586" y="8705"/>
                  <a:pt x="19810" y="7865"/>
                </a:cubicBezTo>
                <a:cubicBezTo>
                  <a:pt x="17967" y="7771"/>
                  <a:pt x="16765" y="6843"/>
                  <a:pt x="16623" y="5495"/>
                </a:cubicBezTo>
                <a:cubicBezTo>
                  <a:pt x="16548" y="3927"/>
                  <a:pt x="18428" y="3479"/>
                  <a:pt x="18428" y="3479"/>
                </a:cubicBezTo>
                <a:cubicBezTo>
                  <a:pt x="21307" y="2438"/>
                  <a:pt x="19943" y="558"/>
                  <a:pt x="19943" y="558"/>
                </a:cubicBezTo>
                <a:cubicBezTo>
                  <a:pt x="19603" y="206"/>
                  <a:pt x="19290" y="41"/>
                  <a:pt x="19004" y="6"/>
                </a:cubicBezTo>
                <a:cubicBezTo>
                  <a:pt x="18927" y="-3"/>
                  <a:pt x="18851" y="-2"/>
                  <a:pt x="18778" y="6"/>
                </a:cubicBezTo>
                <a:close/>
              </a:path>
            </a:pathLst>
          </a:custGeom>
          <a:solidFill>
            <a:srgbClr val="FAFAFA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0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40" y="782536"/>
            <a:ext cx="712623" cy="712623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PAIN POINT"/>
          <p:cNvSpPr txBox="1"/>
          <p:nvPr/>
        </p:nvSpPr>
        <p:spPr>
          <a:xfrm>
            <a:off x="19740646" y="9821939"/>
            <a:ext cx="2661171" cy="4473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  <a:defRPr sz="2000" spc="140">
                <a:solidFill>
                  <a:schemeClr val="accent6">
                    <a:satOff val="1848"/>
                    <a:lumOff val="-15262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rPr lang="en-US" dirty="0"/>
              <a:t>Technical issues</a:t>
            </a:r>
            <a:endParaRPr dirty="0"/>
          </a:p>
        </p:txBody>
      </p:sp>
      <p:sp>
        <p:nvSpPr>
          <p:cNvPr id="203" name="Line"/>
          <p:cNvSpPr/>
          <p:nvPr/>
        </p:nvSpPr>
        <p:spPr>
          <a:xfrm>
            <a:off x="16006809" y="8500161"/>
            <a:ext cx="1" cy="822497"/>
          </a:xfrm>
          <a:prstGeom prst="line">
            <a:avLst/>
          </a:prstGeom>
          <a:ln w="12700">
            <a:solidFill>
              <a:srgbClr val="5A5F5E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04" name="Line"/>
          <p:cNvSpPr/>
          <p:nvPr/>
        </p:nvSpPr>
        <p:spPr>
          <a:xfrm>
            <a:off x="20006498" y="8901190"/>
            <a:ext cx="1" cy="651137"/>
          </a:xfrm>
          <a:prstGeom prst="line">
            <a:avLst/>
          </a:prstGeom>
          <a:ln w="12700">
            <a:solidFill>
              <a:srgbClr val="5A5F5E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2475EDA9-E8CE-49D4-8288-D0F993FBC264}"/>
              </a:ext>
            </a:extLst>
          </p:cNvPr>
          <p:cNvPicPr/>
          <p:nvPr/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20" y="690464"/>
            <a:ext cx="975701" cy="816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angle"/>
          <p:cNvSpPr/>
          <p:nvPr/>
        </p:nvSpPr>
        <p:spPr>
          <a:xfrm>
            <a:off x="-38009" y="-86877"/>
            <a:ext cx="2117721" cy="13789810"/>
          </a:xfrm>
          <a:prstGeom prst="rect">
            <a:avLst/>
          </a:prstGeom>
          <a:gradFill>
            <a:gsLst>
              <a:gs pos="0">
                <a:srgbClr val="2BAFC7"/>
              </a:gs>
              <a:gs pos="100000">
                <a:srgbClr val="3476A6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7" name="AIFL - PROJECT"/>
          <p:cNvSpPr txBox="1"/>
          <p:nvPr/>
        </p:nvSpPr>
        <p:spPr>
          <a:xfrm rot="16200000">
            <a:off x="-4175015" y="7034049"/>
            <a:ext cx="10391733" cy="114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90000"/>
              </a:lnSpc>
              <a:defRPr sz="7500" spc="525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lang="en-US" dirty="0"/>
              <a:t>TRINADE</a:t>
            </a:r>
            <a:r>
              <a:rPr dirty="0"/>
              <a:t> - PROJECT</a:t>
            </a:r>
          </a:p>
        </p:txBody>
      </p:sp>
      <p:sp>
        <p:nvSpPr>
          <p:cNvPr id="208" name="Rectangle"/>
          <p:cNvSpPr/>
          <p:nvPr/>
        </p:nvSpPr>
        <p:spPr>
          <a:xfrm>
            <a:off x="18475208" y="397450"/>
            <a:ext cx="5539781" cy="1517452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9" name="Rectangle"/>
          <p:cNvSpPr/>
          <p:nvPr/>
        </p:nvSpPr>
        <p:spPr>
          <a:xfrm>
            <a:off x="23750669" y="362794"/>
            <a:ext cx="264320" cy="1552108"/>
          </a:xfrm>
          <a:prstGeom prst="rect">
            <a:avLst/>
          </a:prstGeom>
          <a:solidFill>
            <a:srgbClr val="26556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0" name="Shape"/>
          <p:cNvSpPr/>
          <p:nvPr/>
        </p:nvSpPr>
        <p:spPr>
          <a:xfrm flipH="1">
            <a:off x="16742294" y="380122"/>
            <a:ext cx="1586230" cy="1552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0" h="21385" extrusionOk="0">
                <a:moveTo>
                  <a:pt x="0" y="14"/>
                </a:moveTo>
                <a:lnTo>
                  <a:pt x="0" y="21385"/>
                </a:lnTo>
                <a:lnTo>
                  <a:pt x="21192" y="21385"/>
                </a:lnTo>
                <a:cubicBezTo>
                  <a:pt x="21600" y="16103"/>
                  <a:pt x="19825" y="10882"/>
                  <a:pt x="16262" y="6883"/>
                </a:cubicBezTo>
                <a:cubicBezTo>
                  <a:pt x="12188" y="2311"/>
                  <a:pt x="6208" y="-215"/>
                  <a:pt x="0" y="14"/>
                </a:cubicBezTo>
                <a:close/>
              </a:path>
            </a:pathLst>
          </a:custGeom>
          <a:solidFill>
            <a:srgbClr val="2F6B8A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1" name="Shape"/>
          <p:cNvSpPr/>
          <p:nvPr/>
        </p:nvSpPr>
        <p:spPr>
          <a:xfrm rot="10800000" flipH="1">
            <a:off x="18317094" y="380122"/>
            <a:ext cx="1586230" cy="1552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0" h="21385" extrusionOk="0">
                <a:moveTo>
                  <a:pt x="0" y="14"/>
                </a:moveTo>
                <a:lnTo>
                  <a:pt x="0" y="21385"/>
                </a:lnTo>
                <a:lnTo>
                  <a:pt x="21192" y="21385"/>
                </a:lnTo>
                <a:cubicBezTo>
                  <a:pt x="21600" y="16103"/>
                  <a:pt x="19825" y="10882"/>
                  <a:pt x="16262" y="6883"/>
                </a:cubicBezTo>
                <a:cubicBezTo>
                  <a:pt x="12188" y="2311"/>
                  <a:pt x="6208" y="-215"/>
                  <a:pt x="0" y="14"/>
                </a:cubicBezTo>
                <a:close/>
              </a:path>
            </a:pathLst>
          </a:custGeom>
          <a:solidFill>
            <a:srgbClr val="26556E"/>
          </a:solidFill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2" name="SOLUTION AT GLANCE"/>
          <p:cNvSpPr txBox="1"/>
          <p:nvPr/>
        </p:nvSpPr>
        <p:spPr>
          <a:xfrm>
            <a:off x="21111373" y="682917"/>
            <a:ext cx="2302131" cy="911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lnSpc>
                <a:spcPct val="120000"/>
              </a:lnSpc>
              <a:defRPr sz="2500" spc="249">
                <a:solidFill>
                  <a:schemeClr val="accent6">
                    <a:hueOff val="-133706"/>
                    <a:satOff val="8281"/>
                    <a:lumOff val="-27269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t>SOLUTION AT GLANCE</a:t>
            </a:r>
          </a:p>
        </p:txBody>
      </p:sp>
      <p:sp>
        <p:nvSpPr>
          <p:cNvPr id="213" name="2"/>
          <p:cNvSpPr txBox="1"/>
          <p:nvPr/>
        </p:nvSpPr>
        <p:spPr>
          <a:xfrm>
            <a:off x="18819330" y="707047"/>
            <a:ext cx="530958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90000"/>
              </a:lnSpc>
              <a:defRPr spc="499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2</a:t>
            </a:r>
          </a:p>
        </p:txBody>
      </p:sp>
      <p:sp>
        <p:nvSpPr>
          <p:cNvPr id="214" name="Clipboard"/>
          <p:cNvSpPr/>
          <p:nvPr/>
        </p:nvSpPr>
        <p:spPr>
          <a:xfrm>
            <a:off x="17515178" y="885694"/>
            <a:ext cx="496269" cy="7126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1" y="0"/>
                </a:moveTo>
                <a:cubicBezTo>
                  <a:pt x="9801" y="0"/>
                  <a:pt x="9330" y="294"/>
                  <a:pt x="8865" y="898"/>
                </a:cubicBezTo>
                <a:cubicBezTo>
                  <a:pt x="8394" y="1511"/>
                  <a:pt x="7651" y="1943"/>
                  <a:pt x="7089" y="1943"/>
                </a:cubicBezTo>
                <a:cubicBezTo>
                  <a:pt x="6826" y="1943"/>
                  <a:pt x="6299" y="1922"/>
                  <a:pt x="6037" y="1943"/>
                </a:cubicBezTo>
                <a:cubicBezTo>
                  <a:pt x="5104" y="2016"/>
                  <a:pt x="4553" y="2318"/>
                  <a:pt x="4308" y="2794"/>
                </a:cubicBezTo>
                <a:lnTo>
                  <a:pt x="1139" y="2794"/>
                </a:lnTo>
                <a:cubicBezTo>
                  <a:pt x="510" y="2794"/>
                  <a:pt x="0" y="3149"/>
                  <a:pt x="0" y="3587"/>
                </a:cubicBezTo>
                <a:lnTo>
                  <a:pt x="0" y="20807"/>
                </a:lnTo>
                <a:cubicBezTo>
                  <a:pt x="0" y="21245"/>
                  <a:pt x="510" y="21600"/>
                  <a:pt x="1139" y="21600"/>
                </a:cubicBezTo>
                <a:lnTo>
                  <a:pt x="20461" y="21600"/>
                </a:lnTo>
                <a:cubicBezTo>
                  <a:pt x="21090" y="21600"/>
                  <a:pt x="21600" y="21245"/>
                  <a:pt x="21600" y="20807"/>
                </a:cubicBezTo>
                <a:lnTo>
                  <a:pt x="21600" y="3587"/>
                </a:lnTo>
                <a:cubicBezTo>
                  <a:pt x="21600" y="3149"/>
                  <a:pt x="21090" y="2794"/>
                  <a:pt x="20461" y="2794"/>
                </a:cubicBezTo>
                <a:lnTo>
                  <a:pt x="17292" y="2794"/>
                </a:lnTo>
                <a:cubicBezTo>
                  <a:pt x="17047" y="2318"/>
                  <a:pt x="16496" y="2016"/>
                  <a:pt x="15563" y="1943"/>
                </a:cubicBezTo>
                <a:cubicBezTo>
                  <a:pt x="15301" y="1922"/>
                  <a:pt x="14774" y="1943"/>
                  <a:pt x="14511" y="1943"/>
                </a:cubicBezTo>
                <a:cubicBezTo>
                  <a:pt x="13949" y="1943"/>
                  <a:pt x="13209" y="1511"/>
                  <a:pt x="12738" y="898"/>
                </a:cubicBezTo>
                <a:cubicBezTo>
                  <a:pt x="12273" y="294"/>
                  <a:pt x="11802" y="0"/>
                  <a:pt x="10801" y="0"/>
                </a:cubicBezTo>
                <a:close/>
                <a:moveTo>
                  <a:pt x="10799" y="593"/>
                </a:moveTo>
                <a:cubicBezTo>
                  <a:pt x="11264" y="593"/>
                  <a:pt x="11644" y="857"/>
                  <a:pt x="11644" y="1181"/>
                </a:cubicBezTo>
                <a:cubicBezTo>
                  <a:pt x="11644" y="1506"/>
                  <a:pt x="11265" y="1767"/>
                  <a:pt x="10799" y="1767"/>
                </a:cubicBezTo>
                <a:cubicBezTo>
                  <a:pt x="10332" y="1767"/>
                  <a:pt x="9956" y="1506"/>
                  <a:pt x="9956" y="1181"/>
                </a:cubicBezTo>
                <a:cubicBezTo>
                  <a:pt x="9956" y="857"/>
                  <a:pt x="10333" y="593"/>
                  <a:pt x="10799" y="593"/>
                </a:cubicBezTo>
                <a:close/>
                <a:moveTo>
                  <a:pt x="1619" y="3923"/>
                </a:moveTo>
                <a:lnTo>
                  <a:pt x="4207" y="3923"/>
                </a:lnTo>
                <a:cubicBezTo>
                  <a:pt x="4263" y="4130"/>
                  <a:pt x="4364" y="4392"/>
                  <a:pt x="4364" y="4392"/>
                </a:cubicBezTo>
                <a:lnTo>
                  <a:pt x="10799" y="4392"/>
                </a:lnTo>
                <a:lnTo>
                  <a:pt x="17236" y="4392"/>
                </a:lnTo>
                <a:cubicBezTo>
                  <a:pt x="17236" y="4392"/>
                  <a:pt x="17337" y="4130"/>
                  <a:pt x="17393" y="3923"/>
                </a:cubicBezTo>
                <a:lnTo>
                  <a:pt x="19981" y="3923"/>
                </a:lnTo>
                <a:lnTo>
                  <a:pt x="19981" y="20471"/>
                </a:lnTo>
                <a:lnTo>
                  <a:pt x="1619" y="20471"/>
                </a:lnTo>
                <a:lnTo>
                  <a:pt x="1619" y="3923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5" name="Paint Splatter"/>
          <p:cNvSpPr/>
          <p:nvPr/>
        </p:nvSpPr>
        <p:spPr>
          <a:xfrm>
            <a:off x="96908" y="226321"/>
            <a:ext cx="1847887" cy="1825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65" h="21541" extrusionOk="0">
                <a:moveTo>
                  <a:pt x="18778" y="6"/>
                </a:moveTo>
                <a:cubicBezTo>
                  <a:pt x="17680" y="134"/>
                  <a:pt x="17057" y="2145"/>
                  <a:pt x="17057" y="2145"/>
                </a:cubicBezTo>
                <a:cubicBezTo>
                  <a:pt x="16852" y="3359"/>
                  <a:pt x="15985" y="3890"/>
                  <a:pt x="15481" y="4101"/>
                </a:cubicBezTo>
                <a:cubicBezTo>
                  <a:pt x="14194" y="4297"/>
                  <a:pt x="13397" y="3507"/>
                  <a:pt x="13053" y="1869"/>
                </a:cubicBezTo>
                <a:cubicBezTo>
                  <a:pt x="12537" y="2880"/>
                  <a:pt x="11654" y="3375"/>
                  <a:pt x="10752" y="3375"/>
                </a:cubicBezTo>
                <a:cubicBezTo>
                  <a:pt x="10038" y="3375"/>
                  <a:pt x="9410" y="2981"/>
                  <a:pt x="9042" y="2385"/>
                </a:cubicBezTo>
                <a:cubicBezTo>
                  <a:pt x="9027" y="2364"/>
                  <a:pt x="9047" y="2392"/>
                  <a:pt x="9027" y="2365"/>
                </a:cubicBezTo>
                <a:cubicBezTo>
                  <a:pt x="8712" y="1939"/>
                  <a:pt x="8495" y="1267"/>
                  <a:pt x="8495" y="1267"/>
                </a:cubicBezTo>
                <a:cubicBezTo>
                  <a:pt x="8387" y="975"/>
                  <a:pt x="8079" y="832"/>
                  <a:pt x="7808" y="949"/>
                </a:cubicBezTo>
                <a:cubicBezTo>
                  <a:pt x="7536" y="1065"/>
                  <a:pt x="7403" y="1396"/>
                  <a:pt x="7512" y="1688"/>
                </a:cubicBezTo>
                <a:cubicBezTo>
                  <a:pt x="7512" y="1688"/>
                  <a:pt x="8063" y="2709"/>
                  <a:pt x="7926" y="3310"/>
                </a:cubicBezTo>
                <a:cubicBezTo>
                  <a:pt x="7837" y="3703"/>
                  <a:pt x="7904" y="4946"/>
                  <a:pt x="6218" y="5135"/>
                </a:cubicBezTo>
                <a:cubicBezTo>
                  <a:pt x="5752" y="5188"/>
                  <a:pt x="5327" y="4932"/>
                  <a:pt x="5018" y="4604"/>
                </a:cubicBezTo>
                <a:cubicBezTo>
                  <a:pt x="5009" y="4602"/>
                  <a:pt x="5000" y="4602"/>
                  <a:pt x="4991" y="4600"/>
                </a:cubicBezTo>
                <a:cubicBezTo>
                  <a:pt x="5214" y="6253"/>
                  <a:pt x="4846" y="7549"/>
                  <a:pt x="3835" y="8175"/>
                </a:cubicBezTo>
                <a:cubicBezTo>
                  <a:pt x="3057" y="8564"/>
                  <a:pt x="1662" y="8170"/>
                  <a:pt x="1662" y="8170"/>
                </a:cubicBezTo>
                <a:cubicBezTo>
                  <a:pt x="1662" y="8170"/>
                  <a:pt x="3252" y="9037"/>
                  <a:pt x="3447" y="9405"/>
                </a:cubicBezTo>
                <a:cubicBezTo>
                  <a:pt x="3642" y="9774"/>
                  <a:pt x="3739" y="10487"/>
                  <a:pt x="3611" y="11024"/>
                </a:cubicBezTo>
                <a:cubicBezTo>
                  <a:pt x="3469" y="11466"/>
                  <a:pt x="3110" y="11975"/>
                  <a:pt x="2194" y="11735"/>
                </a:cubicBezTo>
                <a:cubicBezTo>
                  <a:pt x="2194" y="11735"/>
                  <a:pt x="-293" y="11137"/>
                  <a:pt x="29" y="13686"/>
                </a:cubicBezTo>
                <a:cubicBezTo>
                  <a:pt x="29" y="13686"/>
                  <a:pt x="572" y="16056"/>
                  <a:pt x="2540" y="14422"/>
                </a:cubicBezTo>
                <a:cubicBezTo>
                  <a:pt x="3229" y="13850"/>
                  <a:pt x="3466" y="13680"/>
                  <a:pt x="3758" y="13817"/>
                </a:cubicBezTo>
                <a:cubicBezTo>
                  <a:pt x="4891" y="14598"/>
                  <a:pt x="5317" y="15680"/>
                  <a:pt x="4758" y="17390"/>
                </a:cubicBezTo>
                <a:cubicBezTo>
                  <a:pt x="7376" y="16540"/>
                  <a:pt x="8461" y="17351"/>
                  <a:pt x="8474" y="18455"/>
                </a:cubicBezTo>
                <a:cubicBezTo>
                  <a:pt x="8487" y="19560"/>
                  <a:pt x="8015" y="19973"/>
                  <a:pt x="8015" y="19973"/>
                </a:cubicBezTo>
                <a:cubicBezTo>
                  <a:pt x="7078" y="21279"/>
                  <a:pt x="8131" y="21539"/>
                  <a:pt x="8131" y="21539"/>
                </a:cubicBezTo>
                <a:cubicBezTo>
                  <a:pt x="8923" y="21597"/>
                  <a:pt x="8788" y="20282"/>
                  <a:pt x="8788" y="20282"/>
                </a:cubicBezTo>
                <a:cubicBezTo>
                  <a:pt x="8765" y="19731"/>
                  <a:pt x="8951" y="18719"/>
                  <a:pt x="9193" y="18402"/>
                </a:cubicBezTo>
                <a:cubicBezTo>
                  <a:pt x="9719" y="17713"/>
                  <a:pt x="12920" y="16968"/>
                  <a:pt x="13661" y="20186"/>
                </a:cubicBezTo>
                <a:cubicBezTo>
                  <a:pt x="13940" y="17526"/>
                  <a:pt x="16095" y="16040"/>
                  <a:pt x="16894" y="17208"/>
                </a:cubicBezTo>
                <a:cubicBezTo>
                  <a:pt x="17606" y="18250"/>
                  <a:pt x="17592" y="18779"/>
                  <a:pt x="18341" y="19048"/>
                </a:cubicBezTo>
                <a:cubicBezTo>
                  <a:pt x="18817" y="19219"/>
                  <a:pt x="19267" y="18578"/>
                  <a:pt x="19121" y="18094"/>
                </a:cubicBezTo>
                <a:cubicBezTo>
                  <a:pt x="18976" y="17610"/>
                  <a:pt x="18406" y="17609"/>
                  <a:pt x="17445" y="16640"/>
                </a:cubicBezTo>
                <a:cubicBezTo>
                  <a:pt x="16491" y="15680"/>
                  <a:pt x="17449" y="12361"/>
                  <a:pt x="18805" y="12812"/>
                </a:cubicBezTo>
                <a:cubicBezTo>
                  <a:pt x="19049" y="12893"/>
                  <a:pt x="19141" y="12986"/>
                  <a:pt x="19373" y="13014"/>
                </a:cubicBezTo>
                <a:cubicBezTo>
                  <a:pt x="19604" y="13043"/>
                  <a:pt x="19842" y="12954"/>
                  <a:pt x="19868" y="12752"/>
                </a:cubicBezTo>
                <a:cubicBezTo>
                  <a:pt x="19895" y="12550"/>
                  <a:pt x="19769" y="12416"/>
                  <a:pt x="19498" y="12345"/>
                </a:cubicBezTo>
                <a:cubicBezTo>
                  <a:pt x="19278" y="12287"/>
                  <a:pt x="19167" y="12369"/>
                  <a:pt x="18803" y="12220"/>
                </a:cubicBezTo>
                <a:cubicBezTo>
                  <a:pt x="17193" y="11564"/>
                  <a:pt x="17586" y="8705"/>
                  <a:pt x="19810" y="7865"/>
                </a:cubicBezTo>
                <a:cubicBezTo>
                  <a:pt x="17967" y="7771"/>
                  <a:pt x="16765" y="6843"/>
                  <a:pt x="16623" y="5495"/>
                </a:cubicBezTo>
                <a:cubicBezTo>
                  <a:pt x="16548" y="3927"/>
                  <a:pt x="18428" y="3479"/>
                  <a:pt x="18428" y="3479"/>
                </a:cubicBezTo>
                <a:cubicBezTo>
                  <a:pt x="21307" y="2438"/>
                  <a:pt x="19943" y="558"/>
                  <a:pt x="19943" y="558"/>
                </a:cubicBezTo>
                <a:cubicBezTo>
                  <a:pt x="19603" y="206"/>
                  <a:pt x="19290" y="41"/>
                  <a:pt x="19004" y="6"/>
                </a:cubicBezTo>
                <a:cubicBezTo>
                  <a:pt x="18927" y="-3"/>
                  <a:pt x="18851" y="-2"/>
                  <a:pt x="18778" y="6"/>
                </a:cubicBezTo>
                <a:close/>
              </a:path>
            </a:pathLst>
          </a:custGeom>
          <a:solidFill>
            <a:srgbClr val="FAFAFA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1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40" y="782536"/>
            <a:ext cx="712623" cy="712623"/>
          </a:xfrm>
          <a:prstGeom prst="rect">
            <a:avLst/>
          </a:prstGeom>
          <a:ln w="12700">
            <a:miter lim="400000"/>
          </a:ln>
        </p:spPr>
      </p:pic>
      <p:sp>
        <p:nvSpPr>
          <p:cNvPr id="218" name="Rectangle"/>
          <p:cNvSpPr/>
          <p:nvPr/>
        </p:nvSpPr>
        <p:spPr>
          <a:xfrm>
            <a:off x="2711943" y="4485401"/>
            <a:ext cx="10664848" cy="5047769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 marL="274320" algn="l">
              <a:lnSpc>
                <a:spcPct val="150000"/>
              </a:lnSpc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Built and deploy an AI product App – Major functionality of this application is to show all the user’s loan details at one place. (All banks loans Home/Vehicle/Personal loans etc.,). </a:t>
            </a:r>
          </a:p>
          <a:p>
            <a:pPr marL="274320" algn="l">
              <a:lnSpc>
                <a:spcPct val="150000"/>
              </a:lnSpc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Next EMI due date and amounts of EMIs of different bank loans</a:t>
            </a:r>
          </a:p>
          <a:p>
            <a:pPr marL="274320" algn="l">
              <a:lnSpc>
                <a:spcPct val="150000"/>
              </a:lnSpc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Facility provided by this App to part payment and full loans payment according to the regulation of particular bank.</a:t>
            </a:r>
          </a:p>
          <a:p>
            <a:pPr marL="274320" algn="l">
              <a:lnSpc>
                <a:spcPct val="150000"/>
              </a:lnSpc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Disbursing NOCs from that particular bank when respective loans closed from respective banks.</a:t>
            </a:r>
            <a:endParaRPr sz="2400" dirty="0"/>
          </a:p>
        </p:txBody>
      </p:sp>
      <p:sp>
        <p:nvSpPr>
          <p:cNvPr id="219" name="Rectangle"/>
          <p:cNvSpPr/>
          <p:nvPr/>
        </p:nvSpPr>
        <p:spPr>
          <a:xfrm>
            <a:off x="2711943" y="3800014"/>
            <a:ext cx="10664848" cy="712624"/>
          </a:xfrm>
          <a:prstGeom prst="rect">
            <a:avLst/>
          </a:prstGeom>
          <a:solidFill>
            <a:srgbClr val="26556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0" name="PROPOSED SOLUTION"/>
          <p:cNvSpPr txBox="1"/>
          <p:nvPr/>
        </p:nvSpPr>
        <p:spPr>
          <a:xfrm>
            <a:off x="5541874" y="3915026"/>
            <a:ext cx="5004987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30000"/>
              </a:lnSpc>
              <a:defRPr sz="2500" b="1" spc="25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PROPOSED SOLUTION</a:t>
            </a:r>
          </a:p>
        </p:txBody>
      </p:sp>
      <p:sp>
        <p:nvSpPr>
          <p:cNvPr id="221" name="Rectangle"/>
          <p:cNvSpPr/>
          <p:nvPr/>
        </p:nvSpPr>
        <p:spPr>
          <a:xfrm>
            <a:off x="16044208" y="6619243"/>
            <a:ext cx="6807165" cy="2351943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 marL="0" marR="0" lvl="0" indent="0" algn="just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  AI model which can learn and understand different </a:t>
            </a:r>
            <a:r>
              <a:rPr lang="en-US" sz="2400" dirty="0">
                <a:solidFill>
                  <a:srgbClr val="340053"/>
                </a:solidFill>
                <a:latin typeface="Gill Sans Light"/>
              </a:rPr>
              <a:t>data analysis using by ML/DL.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40053"/>
              </a:solidFill>
              <a:effectLst/>
              <a:uLnTx/>
              <a:uFillTx/>
              <a:latin typeface="Gill Sans Light"/>
              <a:sym typeface="Gill Sans Light"/>
            </a:endParaRPr>
          </a:p>
        </p:txBody>
      </p:sp>
      <p:sp>
        <p:nvSpPr>
          <p:cNvPr id="222" name="Rectangle"/>
          <p:cNvSpPr/>
          <p:nvPr/>
        </p:nvSpPr>
        <p:spPr>
          <a:xfrm>
            <a:off x="14203551" y="6601914"/>
            <a:ext cx="2043286" cy="2386600"/>
          </a:xfrm>
          <a:prstGeom prst="rect">
            <a:avLst/>
          </a:prstGeom>
          <a:solidFill>
            <a:srgbClr val="26556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3" name="AI MODEL"/>
          <p:cNvSpPr txBox="1"/>
          <p:nvPr/>
        </p:nvSpPr>
        <p:spPr>
          <a:xfrm>
            <a:off x="14445583" y="7592014"/>
            <a:ext cx="1559224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 spc="2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AI MODEL</a:t>
            </a:r>
          </a:p>
        </p:txBody>
      </p:sp>
      <p:sp>
        <p:nvSpPr>
          <p:cNvPr id="224" name="Rectangle"/>
          <p:cNvSpPr/>
          <p:nvPr/>
        </p:nvSpPr>
        <p:spPr>
          <a:xfrm>
            <a:off x="16239036" y="3595330"/>
            <a:ext cx="6807165" cy="2351943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 algn="just"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Available data of various loans from banks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25" name="Rectangle"/>
          <p:cNvSpPr/>
          <p:nvPr/>
        </p:nvSpPr>
        <p:spPr>
          <a:xfrm>
            <a:off x="14203551" y="3592491"/>
            <a:ext cx="2043286" cy="2357622"/>
          </a:xfrm>
          <a:prstGeom prst="rect">
            <a:avLst/>
          </a:prstGeom>
          <a:solidFill>
            <a:srgbClr val="26556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6" name="INPUT"/>
          <p:cNvSpPr txBox="1"/>
          <p:nvPr/>
        </p:nvSpPr>
        <p:spPr>
          <a:xfrm>
            <a:off x="14723544" y="4638181"/>
            <a:ext cx="10033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 spc="2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INPUT</a:t>
            </a:r>
          </a:p>
        </p:txBody>
      </p:sp>
      <p:sp>
        <p:nvSpPr>
          <p:cNvPr id="227" name="Rectangle"/>
          <p:cNvSpPr/>
          <p:nvPr/>
        </p:nvSpPr>
        <p:spPr>
          <a:xfrm>
            <a:off x="16206271" y="9635945"/>
            <a:ext cx="6872694" cy="2351943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 marR="0" lvl="0" algn="just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>
                <a:solidFill>
                  <a:srgbClr val="FFFFFF"/>
                </a:solidFill>
              </a:defRP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Payment/EMI notifications over mail, WhatsApp and</a:t>
            </a:r>
          </a:p>
          <a:p>
            <a:pPr marR="0" lvl="0" algn="just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>
                <a:solidFill>
                  <a:srgbClr val="FFFFFF"/>
                </a:solidFill>
              </a:defRP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App.. </a:t>
            </a:r>
            <a:r>
              <a:rPr lang="en-US" sz="2400" dirty="0">
                <a:solidFill>
                  <a:srgbClr val="340053"/>
                </a:solidFill>
                <a:latin typeface="Gill Sans Light"/>
              </a:rPr>
              <a:t>Interest rates notifications (increased/decreased). Top up loan facility. New loan eligibility. Request for provisional interest certificate.</a:t>
            </a:r>
          </a:p>
          <a:p>
            <a:pPr marR="0" lvl="0" algn="ctr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>
                <a:solidFill>
                  <a:srgbClr val="FFFFFF"/>
                </a:solidFill>
              </a:defRPr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40053"/>
              </a:solidFill>
              <a:effectLst/>
              <a:uLnTx/>
              <a:uFillTx/>
              <a:latin typeface="Gill Sans Light"/>
              <a:sym typeface="Gill Sans Light"/>
            </a:endParaRPr>
          </a:p>
        </p:txBody>
      </p:sp>
      <p:sp>
        <p:nvSpPr>
          <p:cNvPr id="228" name="Rectangle"/>
          <p:cNvSpPr/>
          <p:nvPr/>
        </p:nvSpPr>
        <p:spPr>
          <a:xfrm>
            <a:off x="14170786" y="9633105"/>
            <a:ext cx="2043286" cy="2357622"/>
          </a:xfrm>
          <a:prstGeom prst="rect">
            <a:avLst/>
          </a:prstGeom>
          <a:solidFill>
            <a:srgbClr val="26556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9" name="OUTPUT"/>
          <p:cNvSpPr txBox="1"/>
          <p:nvPr/>
        </p:nvSpPr>
        <p:spPr>
          <a:xfrm>
            <a:off x="14537002" y="10678796"/>
            <a:ext cx="1310854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 spc="2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OUTPUT</a:t>
            </a:r>
          </a:p>
        </p:txBody>
      </p:sp>
      <p:sp>
        <p:nvSpPr>
          <p:cNvPr id="231" name="Rectangle"/>
          <p:cNvSpPr/>
          <p:nvPr/>
        </p:nvSpPr>
        <p:spPr>
          <a:xfrm>
            <a:off x="3211036" y="9367086"/>
            <a:ext cx="4313825" cy="712623"/>
          </a:xfrm>
          <a:prstGeom prst="rect">
            <a:avLst/>
          </a:prstGeom>
          <a:solidFill>
            <a:srgbClr val="26556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2" name="PRO"/>
          <p:cNvSpPr txBox="1"/>
          <p:nvPr/>
        </p:nvSpPr>
        <p:spPr>
          <a:xfrm>
            <a:off x="4028402" y="9448034"/>
            <a:ext cx="2760497" cy="550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30000"/>
              </a:lnSpc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PRO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233" name="Rectangle"/>
          <p:cNvSpPr/>
          <p:nvPr/>
        </p:nvSpPr>
        <p:spPr>
          <a:xfrm>
            <a:off x="8538473" y="10054811"/>
            <a:ext cx="4313826" cy="3229389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 marL="625475" marR="0" lvl="0" indent="-2794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Users will get attracted very easy</a:t>
            </a:r>
          </a:p>
          <a:p>
            <a:pPr marL="625475" marR="0" lvl="0" indent="-2794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340053"/>
                </a:solidFill>
                <a:latin typeface="Gill Sans Light"/>
              </a:rPr>
              <a:t>It will attract very good business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40053"/>
              </a:solidFill>
              <a:effectLst/>
              <a:uLnTx/>
              <a:uFillTx/>
              <a:latin typeface="Gill Sans Light"/>
              <a:sym typeface="Gill Sans Light"/>
            </a:endParaRPr>
          </a:p>
        </p:txBody>
      </p:sp>
      <p:sp>
        <p:nvSpPr>
          <p:cNvPr id="234" name="Rectangle"/>
          <p:cNvSpPr/>
          <p:nvPr/>
        </p:nvSpPr>
        <p:spPr>
          <a:xfrm>
            <a:off x="8548303" y="9367086"/>
            <a:ext cx="4313826" cy="738489"/>
          </a:xfrm>
          <a:prstGeom prst="rect">
            <a:avLst/>
          </a:prstGeom>
          <a:solidFill>
            <a:srgbClr val="26556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235" name="CON"/>
          <p:cNvSpPr txBox="1"/>
          <p:nvPr/>
        </p:nvSpPr>
        <p:spPr>
          <a:xfrm>
            <a:off x="9365670" y="9473900"/>
            <a:ext cx="2760497" cy="550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30000"/>
              </a:lnSpc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CON</a:t>
            </a:r>
            <a:r>
              <a:rPr lang="en-US" dirty="0"/>
              <a:t>S</a:t>
            </a:r>
            <a:endParaRPr dirty="0"/>
          </a:p>
        </p:txBody>
      </p:sp>
      <p:sp>
        <p:nvSpPr>
          <p:cNvPr id="31" name="Rectangle">
            <a:extLst>
              <a:ext uri="{FF2B5EF4-FFF2-40B4-BE49-F238E27FC236}">
                <a16:creationId xmlns:a16="http://schemas.microsoft.com/office/drawing/2014/main" id="{F34F949A-D8EE-40B2-8F4B-65C5BDC66EB5}"/>
              </a:ext>
            </a:extLst>
          </p:cNvPr>
          <p:cNvSpPr/>
          <p:nvPr/>
        </p:nvSpPr>
        <p:spPr>
          <a:xfrm>
            <a:off x="3206905" y="10054812"/>
            <a:ext cx="4313826" cy="3229388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 marL="625475" marR="0" lvl="0" indent="-2794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It is inspired by CRED application many of the technical challenges will be addressed and resolved</a:t>
            </a:r>
          </a:p>
          <a:p>
            <a:pPr marL="625475" marR="0" lvl="0" indent="-2794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340053"/>
                </a:solidFill>
                <a:latin typeface="Gill Sans Light"/>
              </a:rPr>
              <a:t>No other competitor is there as of now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40053"/>
              </a:solidFill>
              <a:effectLst/>
              <a:uLnTx/>
              <a:uFillTx/>
              <a:latin typeface="Gill Sans Light"/>
              <a:sym typeface="Gill Sans Light"/>
            </a:endParaRP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DF5F94EA-E9B6-4156-84F3-DE268331D061}"/>
              </a:ext>
            </a:extLst>
          </p:cNvPr>
          <p:cNvPicPr/>
          <p:nvPr/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20" y="690464"/>
            <a:ext cx="975701" cy="816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"/>
          <p:cNvSpPr/>
          <p:nvPr/>
        </p:nvSpPr>
        <p:spPr>
          <a:xfrm>
            <a:off x="18412967" y="397450"/>
            <a:ext cx="5539781" cy="1517452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8" name="Rectangle"/>
          <p:cNvSpPr/>
          <p:nvPr/>
        </p:nvSpPr>
        <p:spPr>
          <a:xfrm>
            <a:off x="23688428" y="362794"/>
            <a:ext cx="264320" cy="1552108"/>
          </a:xfrm>
          <a:prstGeom prst="rect">
            <a:avLst/>
          </a:prstGeom>
          <a:solidFill>
            <a:schemeClr val="accent6">
              <a:satOff val="1848"/>
              <a:lumOff val="-15262"/>
            </a:schemeClr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9" name="Shape"/>
          <p:cNvSpPr/>
          <p:nvPr/>
        </p:nvSpPr>
        <p:spPr>
          <a:xfrm flipH="1">
            <a:off x="16680053" y="380121"/>
            <a:ext cx="1586229" cy="15521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0" h="21385" extrusionOk="0">
                <a:moveTo>
                  <a:pt x="0" y="14"/>
                </a:moveTo>
                <a:lnTo>
                  <a:pt x="0" y="21385"/>
                </a:lnTo>
                <a:lnTo>
                  <a:pt x="21192" y="21385"/>
                </a:lnTo>
                <a:cubicBezTo>
                  <a:pt x="21600" y="16103"/>
                  <a:pt x="19825" y="10882"/>
                  <a:pt x="16262" y="6883"/>
                </a:cubicBezTo>
                <a:cubicBezTo>
                  <a:pt x="12188" y="2311"/>
                  <a:pt x="6208" y="-215"/>
                  <a:pt x="0" y="14"/>
                </a:cubicBezTo>
                <a:close/>
              </a:path>
            </a:pathLst>
          </a:custGeom>
          <a:solidFill>
            <a:schemeClr val="accent6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0" name="Shape"/>
          <p:cNvSpPr/>
          <p:nvPr/>
        </p:nvSpPr>
        <p:spPr>
          <a:xfrm rot="10800000" flipH="1">
            <a:off x="18254853" y="380121"/>
            <a:ext cx="1586229" cy="15521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0" h="21385" extrusionOk="0">
                <a:moveTo>
                  <a:pt x="0" y="14"/>
                </a:moveTo>
                <a:lnTo>
                  <a:pt x="0" y="21385"/>
                </a:lnTo>
                <a:lnTo>
                  <a:pt x="21192" y="21385"/>
                </a:lnTo>
                <a:cubicBezTo>
                  <a:pt x="21600" y="16103"/>
                  <a:pt x="19825" y="10882"/>
                  <a:pt x="16262" y="6883"/>
                </a:cubicBezTo>
                <a:cubicBezTo>
                  <a:pt x="12188" y="2311"/>
                  <a:pt x="6208" y="-215"/>
                  <a:pt x="0" y="14"/>
                </a:cubicBezTo>
                <a:close/>
              </a:path>
            </a:pathLst>
          </a:custGeom>
          <a:solidFill>
            <a:schemeClr val="accent6">
              <a:satOff val="1848"/>
              <a:lumOff val="-15262"/>
            </a:schemeClr>
          </a:solidFill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1" name="MARKET RESEARCH"/>
          <p:cNvSpPr txBox="1"/>
          <p:nvPr/>
        </p:nvSpPr>
        <p:spPr>
          <a:xfrm>
            <a:off x="19969119" y="702602"/>
            <a:ext cx="3081204" cy="911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lnSpc>
                <a:spcPct val="120000"/>
              </a:lnSpc>
              <a:defRPr sz="2500" spc="249">
                <a:solidFill>
                  <a:schemeClr val="accent6">
                    <a:hueOff val="-133706"/>
                    <a:satOff val="8281"/>
                    <a:lumOff val="-27269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t>MARKET RESEARCH</a:t>
            </a:r>
          </a:p>
        </p:txBody>
      </p:sp>
      <p:sp>
        <p:nvSpPr>
          <p:cNvPr id="242" name="3"/>
          <p:cNvSpPr txBox="1"/>
          <p:nvPr/>
        </p:nvSpPr>
        <p:spPr>
          <a:xfrm>
            <a:off x="18662826" y="624498"/>
            <a:ext cx="530958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90000"/>
              </a:lnSpc>
              <a:defRPr spc="499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3</a:t>
            </a:r>
          </a:p>
        </p:txBody>
      </p:sp>
      <p:sp>
        <p:nvSpPr>
          <p:cNvPr id="243" name="Hammer"/>
          <p:cNvSpPr/>
          <p:nvPr/>
        </p:nvSpPr>
        <p:spPr>
          <a:xfrm rot="18900000">
            <a:off x="17434979" y="929573"/>
            <a:ext cx="347001" cy="7168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04" h="21595" extrusionOk="0">
                <a:moveTo>
                  <a:pt x="12161" y="5"/>
                </a:moveTo>
                <a:cubicBezTo>
                  <a:pt x="7931" y="77"/>
                  <a:pt x="3428" y="850"/>
                  <a:pt x="31" y="3980"/>
                </a:cubicBezTo>
                <a:cubicBezTo>
                  <a:pt x="-96" y="4097"/>
                  <a:pt x="199" y="4215"/>
                  <a:pt x="410" y="4130"/>
                </a:cubicBezTo>
                <a:cubicBezTo>
                  <a:pt x="2319" y="3363"/>
                  <a:pt x="4025" y="2246"/>
                  <a:pt x="6056" y="2246"/>
                </a:cubicBezTo>
                <a:cubicBezTo>
                  <a:pt x="8156" y="2246"/>
                  <a:pt x="8496" y="3611"/>
                  <a:pt x="8496" y="3611"/>
                </a:cubicBezTo>
                <a:lnTo>
                  <a:pt x="9038" y="3611"/>
                </a:lnTo>
                <a:lnTo>
                  <a:pt x="9038" y="9084"/>
                </a:lnTo>
                <a:cubicBezTo>
                  <a:pt x="8731" y="9095"/>
                  <a:pt x="8451" y="9190"/>
                  <a:pt x="8382" y="9337"/>
                </a:cubicBezTo>
                <a:cubicBezTo>
                  <a:pt x="7788" y="10594"/>
                  <a:pt x="8323" y="14242"/>
                  <a:pt x="8323" y="16546"/>
                </a:cubicBezTo>
                <a:cubicBezTo>
                  <a:pt x="8323" y="18416"/>
                  <a:pt x="8011" y="20381"/>
                  <a:pt x="7864" y="21200"/>
                </a:cubicBezTo>
                <a:cubicBezTo>
                  <a:pt x="7827" y="21413"/>
                  <a:pt x="8169" y="21595"/>
                  <a:pt x="8607" y="21595"/>
                </a:cubicBezTo>
                <a:lnTo>
                  <a:pt x="12682" y="21595"/>
                </a:lnTo>
                <a:cubicBezTo>
                  <a:pt x="13120" y="21595"/>
                  <a:pt x="13466" y="21413"/>
                  <a:pt x="13428" y="21200"/>
                </a:cubicBezTo>
                <a:cubicBezTo>
                  <a:pt x="13282" y="20381"/>
                  <a:pt x="12970" y="18416"/>
                  <a:pt x="12970" y="16546"/>
                </a:cubicBezTo>
                <a:cubicBezTo>
                  <a:pt x="12970" y="14242"/>
                  <a:pt x="13504" y="10594"/>
                  <a:pt x="12911" y="9337"/>
                </a:cubicBezTo>
                <a:cubicBezTo>
                  <a:pt x="12842" y="9190"/>
                  <a:pt x="12561" y="9095"/>
                  <a:pt x="12255" y="9084"/>
                </a:cubicBezTo>
                <a:lnTo>
                  <a:pt x="12255" y="3611"/>
                </a:lnTo>
                <a:lnTo>
                  <a:pt x="12796" y="3611"/>
                </a:lnTo>
                <a:cubicBezTo>
                  <a:pt x="12796" y="3611"/>
                  <a:pt x="13547" y="2180"/>
                  <a:pt x="15941" y="2180"/>
                </a:cubicBezTo>
                <a:cubicBezTo>
                  <a:pt x="18334" y="2180"/>
                  <a:pt x="18630" y="2608"/>
                  <a:pt x="18630" y="2608"/>
                </a:cubicBezTo>
                <a:lnTo>
                  <a:pt x="21504" y="2608"/>
                </a:lnTo>
                <a:lnTo>
                  <a:pt x="21504" y="353"/>
                </a:lnTo>
                <a:lnTo>
                  <a:pt x="18592" y="353"/>
                </a:lnTo>
                <a:cubicBezTo>
                  <a:pt x="18592" y="353"/>
                  <a:pt x="16383" y="1518"/>
                  <a:pt x="13952" y="14"/>
                </a:cubicBezTo>
                <a:cubicBezTo>
                  <a:pt x="13363" y="0"/>
                  <a:pt x="12765" y="-5"/>
                  <a:pt x="12161" y="5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4" name="Rectangle"/>
          <p:cNvSpPr/>
          <p:nvPr/>
        </p:nvSpPr>
        <p:spPr>
          <a:xfrm>
            <a:off x="-38009" y="-86877"/>
            <a:ext cx="2117721" cy="13789810"/>
          </a:xfrm>
          <a:prstGeom prst="rect">
            <a:avLst/>
          </a:prstGeom>
          <a:gradFill>
            <a:gsLst>
              <a:gs pos="0">
                <a:srgbClr val="2BAFC7"/>
              </a:gs>
              <a:gs pos="100000">
                <a:srgbClr val="3476A6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5" name="AIFL - PROJECT"/>
          <p:cNvSpPr txBox="1"/>
          <p:nvPr/>
        </p:nvSpPr>
        <p:spPr>
          <a:xfrm rot="16200000">
            <a:off x="-4175015" y="7034049"/>
            <a:ext cx="10391733" cy="114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90000"/>
              </a:lnSpc>
              <a:defRPr sz="7500" spc="525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lang="en-US" dirty="0"/>
              <a:t>TRINADE</a:t>
            </a:r>
            <a:r>
              <a:rPr dirty="0"/>
              <a:t> - PROJECT</a:t>
            </a:r>
          </a:p>
        </p:txBody>
      </p:sp>
      <p:sp>
        <p:nvSpPr>
          <p:cNvPr id="246" name="Rectangle"/>
          <p:cNvSpPr/>
          <p:nvPr/>
        </p:nvSpPr>
        <p:spPr>
          <a:xfrm>
            <a:off x="4126202" y="4241531"/>
            <a:ext cx="6778159" cy="7638235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 marL="346075" marR="0" lvl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>
                <a:solidFill>
                  <a:srgbClr val="FFFFFF"/>
                </a:solidFill>
              </a:defRP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This AI product can be used in,</a:t>
            </a:r>
          </a:p>
          <a:p>
            <a:pPr marL="346075" marR="0" lvl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>
                <a:solidFill>
                  <a:srgbClr val="FFFFFF"/>
                </a:solidFill>
              </a:defRPr>
            </a:pPr>
            <a:endParaRPr lang="en-US" sz="2400" dirty="0">
              <a:solidFill>
                <a:srgbClr val="340053"/>
              </a:solidFill>
              <a:latin typeface="Gill Sans Light"/>
            </a:endParaRPr>
          </a:p>
          <a:p>
            <a:pPr marL="688975" marR="0" lvl="0" indent="-34290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340053"/>
                </a:solidFill>
                <a:latin typeface="Gill Sans Light"/>
              </a:rPr>
              <a:t>All banks</a:t>
            </a:r>
          </a:p>
          <a:p>
            <a:pPr marL="688975" marR="0" lvl="0" indent="-34290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340053"/>
                </a:solidFill>
                <a:latin typeface="Gill Sans Light"/>
              </a:rPr>
              <a:t>Financial Services  </a:t>
            </a:r>
          </a:p>
          <a:p>
            <a:pPr marL="688975" marR="0" lvl="0" indent="-34290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340053"/>
                </a:solidFill>
                <a:latin typeface="Gill Sans Light"/>
              </a:rPr>
              <a:t>Insurance services</a:t>
            </a:r>
          </a:p>
          <a:p>
            <a:pPr marL="688975" marR="0" lvl="0" indent="-34290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340053"/>
                </a:solidFill>
                <a:latin typeface="Gill Sans Light"/>
              </a:rPr>
              <a:t>Societies </a:t>
            </a:r>
          </a:p>
          <a:p>
            <a:pPr marL="688975" marR="0" lvl="0" indent="-34290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340053"/>
                </a:solidFill>
                <a:latin typeface="Gill Sans Light"/>
              </a:rPr>
              <a:t>Chit fund companies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 	</a:t>
            </a:r>
          </a:p>
          <a:p>
            <a:pPr marL="346075" marR="0" lvl="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>
                <a:solidFill>
                  <a:srgbClr val="FFFFFF"/>
                </a:solidFill>
              </a:defRPr>
            </a:pPr>
            <a:endParaRPr lang="en-US" sz="2400" dirty="0">
              <a:solidFill>
                <a:srgbClr val="340053"/>
              </a:solidFill>
              <a:latin typeface="Gill Sans Light"/>
            </a:endParaRPr>
          </a:p>
          <a:p>
            <a:pPr marL="346075" marR="0" lvl="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>
                <a:solidFill>
                  <a:srgbClr val="FFFFFF"/>
                </a:solidFill>
              </a:defRPr>
            </a:pPr>
            <a:endParaRPr lang="en-US" sz="2400" dirty="0">
              <a:solidFill>
                <a:srgbClr val="340053"/>
              </a:solidFill>
              <a:latin typeface="Gill Sans Light"/>
            </a:endParaRPr>
          </a:p>
          <a:p>
            <a:pPr marL="346075" marR="0" lvl="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>
                <a:solidFill>
                  <a:srgbClr val="FFFFFF"/>
                </a:solidFill>
              </a:defRPr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40053"/>
              </a:solidFill>
              <a:effectLst/>
              <a:uLnTx/>
              <a:uFillTx/>
              <a:latin typeface="Gill Sans Light"/>
              <a:sym typeface="Gill Sans Light"/>
            </a:endParaRPr>
          </a:p>
          <a:p>
            <a:pPr marL="346075" marR="0" lvl="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>
                <a:solidFill>
                  <a:srgbClr val="FFFFFF"/>
                </a:solidFill>
              </a:defRPr>
            </a:pPr>
            <a:endParaRPr lang="en-US" sz="2400" dirty="0">
              <a:solidFill>
                <a:srgbClr val="340053"/>
              </a:solidFill>
              <a:latin typeface="Gill Sans Light"/>
            </a:endParaRPr>
          </a:p>
          <a:p>
            <a:pPr marL="346075" marR="0" lvl="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>
                <a:solidFill>
                  <a:srgbClr val="FFFFFF"/>
                </a:solidFill>
              </a:defRPr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40053"/>
              </a:solidFill>
              <a:effectLst/>
              <a:uLnTx/>
              <a:uFillTx/>
              <a:latin typeface="Gill Sans Light"/>
              <a:sym typeface="Gill Sans Light"/>
            </a:endParaRPr>
          </a:p>
        </p:txBody>
      </p:sp>
      <p:sp>
        <p:nvSpPr>
          <p:cNvPr id="247" name="Rectangle"/>
          <p:cNvSpPr/>
          <p:nvPr/>
        </p:nvSpPr>
        <p:spPr>
          <a:xfrm>
            <a:off x="4136033" y="3381006"/>
            <a:ext cx="6758497" cy="911861"/>
          </a:xfrm>
          <a:prstGeom prst="rect">
            <a:avLst/>
          </a:prstGeom>
          <a:solidFill>
            <a:schemeClr val="accent6">
              <a:satOff val="1848"/>
              <a:lumOff val="-15262"/>
            </a:schemeClr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8" name="DEMAND"/>
          <p:cNvSpPr txBox="1"/>
          <p:nvPr/>
        </p:nvSpPr>
        <p:spPr>
          <a:xfrm>
            <a:off x="6135034" y="3595636"/>
            <a:ext cx="2760496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30000"/>
              </a:lnSpc>
              <a:defRPr sz="2500" b="1" spc="25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DEMAND</a:t>
            </a:r>
          </a:p>
        </p:txBody>
      </p:sp>
      <p:sp>
        <p:nvSpPr>
          <p:cNvPr id="249" name="Rectangle"/>
          <p:cNvSpPr/>
          <p:nvPr/>
        </p:nvSpPr>
        <p:spPr>
          <a:xfrm>
            <a:off x="12000372" y="4241532"/>
            <a:ext cx="11043654" cy="7586900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 marL="688975" marR="0" lvl="0" indent="-34290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340053"/>
                </a:solidFill>
                <a:latin typeface="Gill Sans Light"/>
              </a:rPr>
              <a:t>IBM Watson Technology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40053"/>
              </a:solidFill>
              <a:effectLst/>
              <a:uLnTx/>
              <a:uFillTx/>
              <a:latin typeface="Gill Sans Light"/>
              <a:sym typeface="Gill Sans Light"/>
            </a:endParaRPr>
          </a:p>
          <a:p>
            <a:pPr marL="688975" marR="0" lvl="0" indent="-34290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340053"/>
                </a:solidFill>
                <a:latin typeface="Gill Sans Light"/>
              </a:rPr>
              <a:t>Nomura Securities</a:t>
            </a:r>
          </a:p>
          <a:p>
            <a:pPr marL="688975" marR="0" lvl="0" indent="-34290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340053"/>
                </a:solidFill>
                <a:latin typeface="Gill Sans Light"/>
              </a:rPr>
              <a:t>Blur River Technology</a:t>
            </a:r>
          </a:p>
          <a:p>
            <a:pPr marL="688975" marR="0" lvl="0" indent="-34290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40053"/>
              </a:solidFill>
              <a:effectLst/>
              <a:uLnTx/>
              <a:uFillTx/>
              <a:latin typeface="Gill Sans Light"/>
              <a:sym typeface="Gill Sans Light"/>
            </a:endParaRPr>
          </a:p>
          <a:p>
            <a:pPr marL="346075" marR="0" lvl="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>
                <a:solidFill>
                  <a:srgbClr val="FFFFFF"/>
                </a:solidFill>
              </a:defRPr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40053"/>
              </a:solidFill>
              <a:effectLst/>
              <a:uLnTx/>
              <a:uFillTx/>
              <a:latin typeface="Gill Sans Light"/>
              <a:sym typeface="Gill Sans Light"/>
            </a:endParaRPr>
          </a:p>
        </p:txBody>
      </p:sp>
      <p:sp>
        <p:nvSpPr>
          <p:cNvPr id="250" name="Rectangle"/>
          <p:cNvSpPr/>
          <p:nvPr/>
        </p:nvSpPr>
        <p:spPr>
          <a:xfrm>
            <a:off x="12011205" y="3329671"/>
            <a:ext cx="11043655" cy="911861"/>
          </a:xfrm>
          <a:prstGeom prst="rect">
            <a:avLst/>
          </a:prstGeom>
          <a:solidFill>
            <a:schemeClr val="accent6">
              <a:satOff val="1848"/>
              <a:lumOff val="-15262"/>
            </a:schemeClr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1" name="COMPETITION"/>
          <p:cNvSpPr txBox="1"/>
          <p:nvPr/>
        </p:nvSpPr>
        <p:spPr>
          <a:xfrm>
            <a:off x="15305478" y="3541694"/>
            <a:ext cx="4684072" cy="550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50800" tIns="50800" rIns="50800" bIns="50800" anchor="ctr">
            <a:spAutoFit/>
          </a:bodyPr>
          <a:lstStyle>
            <a:lvl1pPr>
              <a:lnSpc>
                <a:spcPct val="130000"/>
              </a:lnSpc>
              <a:defRPr sz="2500" b="1" spc="25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COMPETITION</a:t>
            </a:r>
            <a:r>
              <a:rPr lang="en-US" dirty="0"/>
              <a:t> ANALYSIS</a:t>
            </a:r>
            <a:endParaRPr dirty="0"/>
          </a:p>
        </p:txBody>
      </p:sp>
      <p:sp>
        <p:nvSpPr>
          <p:cNvPr id="252" name="Paint Splatter"/>
          <p:cNvSpPr/>
          <p:nvPr/>
        </p:nvSpPr>
        <p:spPr>
          <a:xfrm>
            <a:off x="96908" y="226321"/>
            <a:ext cx="1847887" cy="1825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65" h="21541" extrusionOk="0">
                <a:moveTo>
                  <a:pt x="18778" y="6"/>
                </a:moveTo>
                <a:cubicBezTo>
                  <a:pt x="17680" y="134"/>
                  <a:pt x="17057" y="2145"/>
                  <a:pt x="17057" y="2145"/>
                </a:cubicBezTo>
                <a:cubicBezTo>
                  <a:pt x="16852" y="3359"/>
                  <a:pt x="15985" y="3890"/>
                  <a:pt x="15481" y="4101"/>
                </a:cubicBezTo>
                <a:cubicBezTo>
                  <a:pt x="14194" y="4297"/>
                  <a:pt x="13397" y="3507"/>
                  <a:pt x="13053" y="1869"/>
                </a:cubicBezTo>
                <a:cubicBezTo>
                  <a:pt x="12537" y="2880"/>
                  <a:pt x="11654" y="3375"/>
                  <a:pt x="10752" y="3375"/>
                </a:cubicBezTo>
                <a:cubicBezTo>
                  <a:pt x="10038" y="3375"/>
                  <a:pt x="9410" y="2981"/>
                  <a:pt x="9042" y="2385"/>
                </a:cubicBezTo>
                <a:cubicBezTo>
                  <a:pt x="9027" y="2364"/>
                  <a:pt x="9047" y="2392"/>
                  <a:pt x="9027" y="2365"/>
                </a:cubicBezTo>
                <a:cubicBezTo>
                  <a:pt x="8712" y="1939"/>
                  <a:pt x="8495" y="1267"/>
                  <a:pt x="8495" y="1267"/>
                </a:cubicBezTo>
                <a:cubicBezTo>
                  <a:pt x="8387" y="975"/>
                  <a:pt x="8079" y="832"/>
                  <a:pt x="7808" y="949"/>
                </a:cubicBezTo>
                <a:cubicBezTo>
                  <a:pt x="7536" y="1065"/>
                  <a:pt x="7403" y="1396"/>
                  <a:pt x="7512" y="1688"/>
                </a:cubicBezTo>
                <a:cubicBezTo>
                  <a:pt x="7512" y="1688"/>
                  <a:pt x="8063" y="2709"/>
                  <a:pt x="7926" y="3310"/>
                </a:cubicBezTo>
                <a:cubicBezTo>
                  <a:pt x="7837" y="3703"/>
                  <a:pt x="7904" y="4946"/>
                  <a:pt x="6218" y="5135"/>
                </a:cubicBezTo>
                <a:cubicBezTo>
                  <a:pt x="5752" y="5188"/>
                  <a:pt x="5327" y="4932"/>
                  <a:pt x="5018" y="4604"/>
                </a:cubicBezTo>
                <a:cubicBezTo>
                  <a:pt x="5009" y="4602"/>
                  <a:pt x="5000" y="4602"/>
                  <a:pt x="4991" y="4600"/>
                </a:cubicBezTo>
                <a:cubicBezTo>
                  <a:pt x="5214" y="6253"/>
                  <a:pt x="4846" y="7549"/>
                  <a:pt x="3835" y="8175"/>
                </a:cubicBezTo>
                <a:cubicBezTo>
                  <a:pt x="3057" y="8564"/>
                  <a:pt x="1662" y="8170"/>
                  <a:pt x="1662" y="8170"/>
                </a:cubicBezTo>
                <a:cubicBezTo>
                  <a:pt x="1662" y="8170"/>
                  <a:pt x="3252" y="9037"/>
                  <a:pt x="3447" y="9405"/>
                </a:cubicBezTo>
                <a:cubicBezTo>
                  <a:pt x="3642" y="9774"/>
                  <a:pt x="3739" y="10487"/>
                  <a:pt x="3611" y="11024"/>
                </a:cubicBezTo>
                <a:cubicBezTo>
                  <a:pt x="3469" y="11466"/>
                  <a:pt x="3110" y="11975"/>
                  <a:pt x="2194" y="11735"/>
                </a:cubicBezTo>
                <a:cubicBezTo>
                  <a:pt x="2194" y="11735"/>
                  <a:pt x="-293" y="11137"/>
                  <a:pt x="29" y="13686"/>
                </a:cubicBezTo>
                <a:cubicBezTo>
                  <a:pt x="29" y="13686"/>
                  <a:pt x="572" y="16056"/>
                  <a:pt x="2540" y="14422"/>
                </a:cubicBezTo>
                <a:cubicBezTo>
                  <a:pt x="3229" y="13850"/>
                  <a:pt x="3466" y="13680"/>
                  <a:pt x="3758" y="13817"/>
                </a:cubicBezTo>
                <a:cubicBezTo>
                  <a:pt x="4891" y="14598"/>
                  <a:pt x="5317" y="15680"/>
                  <a:pt x="4758" y="17390"/>
                </a:cubicBezTo>
                <a:cubicBezTo>
                  <a:pt x="7376" y="16540"/>
                  <a:pt x="8461" y="17351"/>
                  <a:pt x="8474" y="18455"/>
                </a:cubicBezTo>
                <a:cubicBezTo>
                  <a:pt x="8487" y="19560"/>
                  <a:pt x="8015" y="19973"/>
                  <a:pt x="8015" y="19973"/>
                </a:cubicBezTo>
                <a:cubicBezTo>
                  <a:pt x="7078" y="21279"/>
                  <a:pt x="8131" y="21539"/>
                  <a:pt x="8131" y="21539"/>
                </a:cubicBezTo>
                <a:cubicBezTo>
                  <a:pt x="8923" y="21597"/>
                  <a:pt x="8788" y="20282"/>
                  <a:pt x="8788" y="20282"/>
                </a:cubicBezTo>
                <a:cubicBezTo>
                  <a:pt x="8765" y="19731"/>
                  <a:pt x="8951" y="18719"/>
                  <a:pt x="9193" y="18402"/>
                </a:cubicBezTo>
                <a:cubicBezTo>
                  <a:pt x="9719" y="17713"/>
                  <a:pt x="12920" y="16968"/>
                  <a:pt x="13661" y="20186"/>
                </a:cubicBezTo>
                <a:cubicBezTo>
                  <a:pt x="13940" y="17526"/>
                  <a:pt x="16095" y="16040"/>
                  <a:pt x="16894" y="17208"/>
                </a:cubicBezTo>
                <a:cubicBezTo>
                  <a:pt x="17606" y="18250"/>
                  <a:pt x="17592" y="18779"/>
                  <a:pt x="18341" y="19048"/>
                </a:cubicBezTo>
                <a:cubicBezTo>
                  <a:pt x="18817" y="19219"/>
                  <a:pt x="19267" y="18578"/>
                  <a:pt x="19121" y="18094"/>
                </a:cubicBezTo>
                <a:cubicBezTo>
                  <a:pt x="18976" y="17610"/>
                  <a:pt x="18406" y="17609"/>
                  <a:pt x="17445" y="16640"/>
                </a:cubicBezTo>
                <a:cubicBezTo>
                  <a:pt x="16491" y="15680"/>
                  <a:pt x="17449" y="12361"/>
                  <a:pt x="18805" y="12812"/>
                </a:cubicBezTo>
                <a:cubicBezTo>
                  <a:pt x="19049" y="12893"/>
                  <a:pt x="19141" y="12986"/>
                  <a:pt x="19373" y="13014"/>
                </a:cubicBezTo>
                <a:cubicBezTo>
                  <a:pt x="19604" y="13043"/>
                  <a:pt x="19842" y="12954"/>
                  <a:pt x="19868" y="12752"/>
                </a:cubicBezTo>
                <a:cubicBezTo>
                  <a:pt x="19895" y="12550"/>
                  <a:pt x="19769" y="12416"/>
                  <a:pt x="19498" y="12345"/>
                </a:cubicBezTo>
                <a:cubicBezTo>
                  <a:pt x="19278" y="12287"/>
                  <a:pt x="19167" y="12369"/>
                  <a:pt x="18803" y="12220"/>
                </a:cubicBezTo>
                <a:cubicBezTo>
                  <a:pt x="17193" y="11564"/>
                  <a:pt x="17586" y="8705"/>
                  <a:pt x="19810" y="7865"/>
                </a:cubicBezTo>
                <a:cubicBezTo>
                  <a:pt x="17967" y="7771"/>
                  <a:pt x="16765" y="6843"/>
                  <a:pt x="16623" y="5495"/>
                </a:cubicBezTo>
                <a:cubicBezTo>
                  <a:pt x="16548" y="3927"/>
                  <a:pt x="18428" y="3479"/>
                  <a:pt x="18428" y="3479"/>
                </a:cubicBezTo>
                <a:cubicBezTo>
                  <a:pt x="21307" y="2438"/>
                  <a:pt x="19943" y="558"/>
                  <a:pt x="19943" y="558"/>
                </a:cubicBezTo>
                <a:cubicBezTo>
                  <a:pt x="19603" y="206"/>
                  <a:pt x="19290" y="41"/>
                  <a:pt x="19004" y="6"/>
                </a:cubicBezTo>
                <a:cubicBezTo>
                  <a:pt x="18927" y="-3"/>
                  <a:pt x="18851" y="-2"/>
                  <a:pt x="18778" y="6"/>
                </a:cubicBezTo>
                <a:close/>
              </a:path>
            </a:pathLst>
          </a:custGeom>
          <a:solidFill>
            <a:srgbClr val="FAFAFA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5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40" y="782536"/>
            <a:ext cx="712623" cy="71262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AC5D7E8-B1B1-404C-B1D1-F27702F7BB5E}"/>
              </a:ext>
            </a:extLst>
          </p:cNvPr>
          <p:cNvPicPr/>
          <p:nvPr/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20" y="690464"/>
            <a:ext cx="975701" cy="816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"/>
          <p:cNvSpPr/>
          <p:nvPr/>
        </p:nvSpPr>
        <p:spPr>
          <a:xfrm>
            <a:off x="5623585" y="6696245"/>
            <a:ext cx="7351129" cy="2351943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 marL="27432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Major risks include webservices calls and implementation across the globe. Legal issues, securities measures and technical issues.       </a:t>
            </a:r>
          </a:p>
        </p:txBody>
      </p:sp>
      <p:sp>
        <p:nvSpPr>
          <p:cNvPr id="257" name="Rectangle"/>
          <p:cNvSpPr/>
          <p:nvPr/>
        </p:nvSpPr>
        <p:spPr>
          <a:xfrm>
            <a:off x="3572876" y="6678917"/>
            <a:ext cx="2043286" cy="2386599"/>
          </a:xfrm>
          <a:prstGeom prst="rect">
            <a:avLst/>
          </a:prstGeom>
          <a:solidFill>
            <a:srgbClr val="50ABAD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8" name="RISK"/>
          <p:cNvSpPr txBox="1"/>
          <p:nvPr/>
        </p:nvSpPr>
        <p:spPr>
          <a:xfrm>
            <a:off x="4183145" y="7669017"/>
            <a:ext cx="822748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 spc="2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RISK</a:t>
            </a:r>
          </a:p>
        </p:txBody>
      </p:sp>
      <p:sp>
        <p:nvSpPr>
          <p:cNvPr id="259" name="Rectangle"/>
          <p:cNvSpPr/>
          <p:nvPr/>
        </p:nvSpPr>
        <p:spPr>
          <a:xfrm>
            <a:off x="5626099" y="3672333"/>
            <a:ext cx="7352103" cy="2351943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 marL="274320" algn="l"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Total cost will include: product development cost, initial testing and model deployment cost, alterations in banks IT infrastructure, new hardware / software cost, continuous training and maintenance cost &amp; profit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60" name="Rectangle"/>
          <p:cNvSpPr/>
          <p:nvPr/>
        </p:nvSpPr>
        <p:spPr>
          <a:xfrm>
            <a:off x="3572876" y="3669493"/>
            <a:ext cx="2043286" cy="2357622"/>
          </a:xfrm>
          <a:prstGeom prst="rect">
            <a:avLst/>
          </a:prstGeom>
          <a:solidFill>
            <a:srgbClr val="50ABAD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1" name="BUDGET"/>
          <p:cNvSpPr txBox="1"/>
          <p:nvPr/>
        </p:nvSpPr>
        <p:spPr>
          <a:xfrm>
            <a:off x="3924953" y="4715183"/>
            <a:ext cx="1339132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 spc="2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BUDGET</a:t>
            </a:r>
          </a:p>
        </p:txBody>
      </p:sp>
      <p:sp>
        <p:nvSpPr>
          <p:cNvPr id="262" name="Rectangle"/>
          <p:cNvSpPr/>
          <p:nvPr/>
        </p:nvSpPr>
        <p:spPr>
          <a:xfrm>
            <a:off x="16005088" y="8249789"/>
            <a:ext cx="7167214" cy="4589181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 marL="274320" marR="0" lvl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>
                <a:solidFill>
                  <a:srgbClr val="FFFFFF"/>
                </a:solidFill>
              </a:defRPr>
            </a:pPr>
            <a:r>
              <a:rPr kumimoji="0" lang="en-US" sz="2400" b="0" i="0" u="sng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Product Team:</a:t>
            </a:r>
          </a:p>
          <a:p>
            <a:pPr marL="61722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Product Manager</a:t>
            </a:r>
          </a:p>
          <a:p>
            <a:pPr marL="61722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340053"/>
                </a:solidFill>
                <a:latin typeface="Gill Sans Light"/>
              </a:rPr>
              <a:t>Technical Architect</a:t>
            </a:r>
          </a:p>
          <a:p>
            <a:pPr marL="61722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340053"/>
                </a:solidFill>
                <a:latin typeface="Gill Sans Light"/>
              </a:rPr>
              <a:t>Technical Lead</a:t>
            </a:r>
          </a:p>
          <a:p>
            <a:pPr marL="61722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Business Analyst</a:t>
            </a:r>
          </a:p>
          <a:p>
            <a:pPr marL="61722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340053"/>
                </a:solidFill>
                <a:latin typeface="Gill Sans Light"/>
              </a:rPr>
              <a:t>Marketing Manager</a:t>
            </a:r>
          </a:p>
          <a:p>
            <a:pPr marL="61722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40053"/>
              </a:solidFill>
              <a:effectLst/>
              <a:uLnTx/>
              <a:uFillTx/>
              <a:latin typeface="Gill Sans Light"/>
              <a:sym typeface="Gill Sans Light"/>
            </a:endParaRPr>
          </a:p>
          <a:p>
            <a:pPr marL="61722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40053"/>
              </a:solidFill>
              <a:effectLst/>
              <a:uLnTx/>
              <a:uFillTx/>
              <a:latin typeface="Gill Sans Light"/>
              <a:sym typeface="Gill Sans Light"/>
            </a:endParaRPr>
          </a:p>
        </p:txBody>
      </p:sp>
      <p:sp>
        <p:nvSpPr>
          <p:cNvPr id="263" name="Rectangle"/>
          <p:cNvSpPr/>
          <p:nvPr/>
        </p:nvSpPr>
        <p:spPr>
          <a:xfrm>
            <a:off x="13961803" y="8232461"/>
            <a:ext cx="2043286" cy="4589181"/>
          </a:xfrm>
          <a:prstGeom prst="rect">
            <a:avLst/>
          </a:prstGeom>
          <a:solidFill>
            <a:srgbClr val="50ABAD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264" name="RESOURCE"/>
          <p:cNvSpPr txBox="1"/>
          <p:nvPr/>
        </p:nvSpPr>
        <p:spPr>
          <a:xfrm>
            <a:off x="14100993" y="8297248"/>
            <a:ext cx="1764906" cy="22570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 spc="2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dirty="0"/>
              <a:t>RESOURCE</a:t>
            </a:r>
          </a:p>
        </p:txBody>
      </p:sp>
      <p:sp>
        <p:nvSpPr>
          <p:cNvPr id="265" name="Rectangle"/>
          <p:cNvSpPr/>
          <p:nvPr/>
        </p:nvSpPr>
        <p:spPr>
          <a:xfrm>
            <a:off x="5575596" y="9712947"/>
            <a:ext cx="7369842" cy="2351943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 algn="just">
              <a:defRPr>
                <a:solidFill>
                  <a:srgbClr val="FFFFFF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~ </a:t>
            </a:r>
            <a:r>
              <a:rPr lang="en-US" dirty="0">
                <a:solidFill>
                  <a:schemeClr val="bg1"/>
                </a:solidFill>
              </a:rPr>
              <a:t>4 - 5 months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266" name="Rectangle"/>
          <p:cNvSpPr/>
          <p:nvPr/>
        </p:nvSpPr>
        <p:spPr>
          <a:xfrm>
            <a:off x="3540111" y="9710108"/>
            <a:ext cx="2043286" cy="2357621"/>
          </a:xfrm>
          <a:prstGeom prst="rect">
            <a:avLst/>
          </a:prstGeom>
          <a:solidFill>
            <a:srgbClr val="50ABAD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7" name="TIMELINE"/>
          <p:cNvSpPr txBox="1"/>
          <p:nvPr/>
        </p:nvSpPr>
        <p:spPr>
          <a:xfrm>
            <a:off x="3810358" y="10755798"/>
            <a:ext cx="1502793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 spc="2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TIMELINE</a:t>
            </a:r>
          </a:p>
        </p:txBody>
      </p:sp>
      <p:sp>
        <p:nvSpPr>
          <p:cNvPr id="268" name="Rectangle"/>
          <p:cNvSpPr/>
          <p:nvPr/>
        </p:nvSpPr>
        <p:spPr>
          <a:xfrm>
            <a:off x="-38009" y="-86877"/>
            <a:ext cx="2117721" cy="13789810"/>
          </a:xfrm>
          <a:prstGeom prst="rect">
            <a:avLst/>
          </a:prstGeom>
          <a:gradFill>
            <a:gsLst>
              <a:gs pos="0">
                <a:srgbClr val="2BAFC7"/>
              </a:gs>
              <a:gs pos="100000">
                <a:srgbClr val="3476A6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9" name="AIFL - PROJECT"/>
          <p:cNvSpPr txBox="1"/>
          <p:nvPr/>
        </p:nvSpPr>
        <p:spPr>
          <a:xfrm rot="16200000">
            <a:off x="-4175015" y="7034049"/>
            <a:ext cx="10391733" cy="114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90000"/>
              </a:lnSpc>
              <a:defRPr sz="7500" spc="525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lang="en-US" dirty="0"/>
              <a:t>TRINADE</a:t>
            </a:r>
            <a:r>
              <a:rPr dirty="0"/>
              <a:t> - PROJECT</a:t>
            </a:r>
          </a:p>
        </p:txBody>
      </p:sp>
      <p:sp>
        <p:nvSpPr>
          <p:cNvPr id="270" name="Paint Splatter"/>
          <p:cNvSpPr/>
          <p:nvPr/>
        </p:nvSpPr>
        <p:spPr>
          <a:xfrm>
            <a:off x="96908" y="226321"/>
            <a:ext cx="1847887" cy="1825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65" h="21541" extrusionOk="0">
                <a:moveTo>
                  <a:pt x="18778" y="6"/>
                </a:moveTo>
                <a:cubicBezTo>
                  <a:pt x="17680" y="134"/>
                  <a:pt x="17057" y="2145"/>
                  <a:pt x="17057" y="2145"/>
                </a:cubicBezTo>
                <a:cubicBezTo>
                  <a:pt x="16852" y="3359"/>
                  <a:pt x="15985" y="3890"/>
                  <a:pt x="15481" y="4101"/>
                </a:cubicBezTo>
                <a:cubicBezTo>
                  <a:pt x="14194" y="4297"/>
                  <a:pt x="13397" y="3507"/>
                  <a:pt x="13053" y="1869"/>
                </a:cubicBezTo>
                <a:cubicBezTo>
                  <a:pt x="12537" y="2880"/>
                  <a:pt x="11654" y="3375"/>
                  <a:pt x="10752" y="3375"/>
                </a:cubicBezTo>
                <a:cubicBezTo>
                  <a:pt x="10038" y="3375"/>
                  <a:pt x="9410" y="2981"/>
                  <a:pt x="9042" y="2385"/>
                </a:cubicBezTo>
                <a:cubicBezTo>
                  <a:pt x="9027" y="2364"/>
                  <a:pt x="9047" y="2392"/>
                  <a:pt x="9027" y="2365"/>
                </a:cubicBezTo>
                <a:cubicBezTo>
                  <a:pt x="8712" y="1939"/>
                  <a:pt x="8495" y="1267"/>
                  <a:pt x="8495" y="1267"/>
                </a:cubicBezTo>
                <a:cubicBezTo>
                  <a:pt x="8387" y="975"/>
                  <a:pt x="8079" y="832"/>
                  <a:pt x="7808" y="949"/>
                </a:cubicBezTo>
                <a:cubicBezTo>
                  <a:pt x="7536" y="1065"/>
                  <a:pt x="7403" y="1396"/>
                  <a:pt x="7512" y="1688"/>
                </a:cubicBezTo>
                <a:cubicBezTo>
                  <a:pt x="7512" y="1688"/>
                  <a:pt x="8063" y="2709"/>
                  <a:pt x="7926" y="3310"/>
                </a:cubicBezTo>
                <a:cubicBezTo>
                  <a:pt x="7837" y="3703"/>
                  <a:pt x="7904" y="4946"/>
                  <a:pt x="6218" y="5135"/>
                </a:cubicBezTo>
                <a:cubicBezTo>
                  <a:pt x="5752" y="5188"/>
                  <a:pt x="5327" y="4932"/>
                  <a:pt x="5018" y="4604"/>
                </a:cubicBezTo>
                <a:cubicBezTo>
                  <a:pt x="5009" y="4602"/>
                  <a:pt x="5000" y="4602"/>
                  <a:pt x="4991" y="4600"/>
                </a:cubicBezTo>
                <a:cubicBezTo>
                  <a:pt x="5214" y="6253"/>
                  <a:pt x="4846" y="7549"/>
                  <a:pt x="3835" y="8175"/>
                </a:cubicBezTo>
                <a:cubicBezTo>
                  <a:pt x="3057" y="8564"/>
                  <a:pt x="1662" y="8170"/>
                  <a:pt x="1662" y="8170"/>
                </a:cubicBezTo>
                <a:cubicBezTo>
                  <a:pt x="1662" y="8170"/>
                  <a:pt x="3252" y="9037"/>
                  <a:pt x="3447" y="9405"/>
                </a:cubicBezTo>
                <a:cubicBezTo>
                  <a:pt x="3642" y="9774"/>
                  <a:pt x="3739" y="10487"/>
                  <a:pt x="3611" y="11024"/>
                </a:cubicBezTo>
                <a:cubicBezTo>
                  <a:pt x="3469" y="11466"/>
                  <a:pt x="3110" y="11975"/>
                  <a:pt x="2194" y="11735"/>
                </a:cubicBezTo>
                <a:cubicBezTo>
                  <a:pt x="2194" y="11735"/>
                  <a:pt x="-293" y="11137"/>
                  <a:pt x="29" y="13686"/>
                </a:cubicBezTo>
                <a:cubicBezTo>
                  <a:pt x="29" y="13686"/>
                  <a:pt x="572" y="16056"/>
                  <a:pt x="2540" y="14422"/>
                </a:cubicBezTo>
                <a:cubicBezTo>
                  <a:pt x="3229" y="13850"/>
                  <a:pt x="3466" y="13680"/>
                  <a:pt x="3758" y="13817"/>
                </a:cubicBezTo>
                <a:cubicBezTo>
                  <a:pt x="4891" y="14598"/>
                  <a:pt x="5317" y="15680"/>
                  <a:pt x="4758" y="17390"/>
                </a:cubicBezTo>
                <a:cubicBezTo>
                  <a:pt x="7376" y="16540"/>
                  <a:pt x="8461" y="17351"/>
                  <a:pt x="8474" y="18455"/>
                </a:cubicBezTo>
                <a:cubicBezTo>
                  <a:pt x="8487" y="19560"/>
                  <a:pt x="8015" y="19973"/>
                  <a:pt x="8015" y="19973"/>
                </a:cubicBezTo>
                <a:cubicBezTo>
                  <a:pt x="7078" y="21279"/>
                  <a:pt x="8131" y="21539"/>
                  <a:pt x="8131" y="21539"/>
                </a:cubicBezTo>
                <a:cubicBezTo>
                  <a:pt x="8923" y="21597"/>
                  <a:pt x="8788" y="20282"/>
                  <a:pt x="8788" y="20282"/>
                </a:cubicBezTo>
                <a:cubicBezTo>
                  <a:pt x="8765" y="19731"/>
                  <a:pt x="8951" y="18719"/>
                  <a:pt x="9193" y="18402"/>
                </a:cubicBezTo>
                <a:cubicBezTo>
                  <a:pt x="9719" y="17713"/>
                  <a:pt x="12920" y="16968"/>
                  <a:pt x="13661" y="20186"/>
                </a:cubicBezTo>
                <a:cubicBezTo>
                  <a:pt x="13940" y="17526"/>
                  <a:pt x="16095" y="16040"/>
                  <a:pt x="16894" y="17208"/>
                </a:cubicBezTo>
                <a:cubicBezTo>
                  <a:pt x="17606" y="18250"/>
                  <a:pt x="17592" y="18779"/>
                  <a:pt x="18341" y="19048"/>
                </a:cubicBezTo>
                <a:cubicBezTo>
                  <a:pt x="18817" y="19219"/>
                  <a:pt x="19267" y="18578"/>
                  <a:pt x="19121" y="18094"/>
                </a:cubicBezTo>
                <a:cubicBezTo>
                  <a:pt x="18976" y="17610"/>
                  <a:pt x="18406" y="17609"/>
                  <a:pt x="17445" y="16640"/>
                </a:cubicBezTo>
                <a:cubicBezTo>
                  <a:pt x="16491" y="15680"/>
                  <a:pt x="17449" y="12361"/>
                  <a:pt x="18805" y="12812"/>
                </a:cubicBezTo>
                <a:cubicBezTo>
                  <a:pt x="19049" y="12893"/>
                  <a:pt x="19141" y="12986"/>
                  <a:pt x="19373" y="13014"/>
                </a:cubicBezTo>
                <a:cubicBezTo>
                  <a:pt x="19604" y="13043"/>
                  <a:pt x="19842" y="12954"/>
                  <a:pt x="19868" y="12752"/>
                </a:cubicBezTo>
                <a:cubicBezTo>
                  <a:pt x="19895" y="12550"/>
                  <a:pt x="19769" y="12416"/>
                  <a:pt x="19498" y="12345"/>
                </a:cubicBezTo>
                <a:cubicBezTo>
                  <a:pt x="19278" y="12287"/>
                  <a:pt x="19167" y="12369"/>
                  <a:pt x="18803" y="12220"/>
                </a:cubicBezTo>
                <a:cubicBezTo>
                  <a:pt x="17193" y="11564"/>
                  <a:pt x="17586" y="8705"/>
                  <a:pt x="19810" y="7865"/>
                </a:cubicBezTo>
                <a:cubicBezTo>
                  <a:pt x="17967" y="7771"/>
                  <a:pt x="16765" y="6843"/>
                  <a:pt x="16623" y="5495"/>
                </a:cubicBezTo>
                <a:cubicBezTo>
                  <a:pt x="16548" y="3927"/>
                  <a:pt x="18428" y="3479"/>
                  <a:pt x="18428" y="3479"/>
                </a:cubicBezTo>
                <a:cubicBezTo>
                  <a:pt x="21307" y="2438"/>
                  <a:pt x="19943" y="558"/>
                  <a:pt x="19943" y="558"/>
                </a:cubicBezTo>
                <a:cubicBezTo>
                  <a:pt x="19603" y="206"/>
                  <a:pt x="19290" y="41"/>
                  <a:pt x="19004" y="6"/>
                </a:cubicBezTo>
                <a:cubicBezTo>
                  <a:pt x="18927" y="-3"/>
                  <a:pt x="18851" y="-2"/>
                  <a:pt x="18778" y="6"/>
                </a:cubicBezTo>
                <a:close/>
              </a:path>
            </a:pathLst>
          </a:custGeom>
          <a:solidFill>
            <a:srgbClr val="FAFAFA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7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40" y="782536"/>
            <a:ext cx="712623" cy="712623"/>
          </a:xfrm>
          <a:prstGeom prst="rect">
            <a:avLst/>
          </a:prstGeom>
          <a:ln w="12700">
            <a:miter lim="400000"/>
          </a:ln>
        </p:spPr>
      </p:pic>
      <p:sp>
        <p:nvSpPr>
          <p:cNvPr id="273" name="Rectangle"/>
          <p:cNvSpPr/>
          <p:nvPr/>
        </p:nvSpPr>
        <p:spPr>
          <a:xfrm>
            <a:off x="16005088" y="5142701"/>
            <a:ext cx="7167213" cy="2351943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 marL="274320" marR="0" lvl="0" indent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340053"/>
                </a:solidFill>
                <a:latin typeface="Gill Sans Light"/>
              </a:rPr>
              <a:t>Machine learning &amp; Deep Learning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 </a:t>
            </a:r>
          </a:p>
        </p:txBody>
      </p:sp>
      <p:sp>
        <p:nvSpPr>
          <p:cNvPr id="274" name="Rectangle"/>
          <p:cNvSpPr/>
          <p:nvPr/>
        </p:nvSpPr>
        <p:spPr>
          <a:xfrm>
            <a:off x="13961803" y="5125372"/>
            <a:ext cx="2043286" cy="2386600"/>
          </a:xfrm>
          <a:prstGeom prst="rect">
            <a:avLst/>
          </a:prstGeom>
          <a:solidFill>
            <a:srgbClr val="50ABAD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5" name="TECHNOLOGY"/>
          <p:cNvSpPr txBox="1"/>
          <p:nvPr/>
        </p:nvSpPr>
        <p:spPr>
          <a:xfrm>
            <a:off x="13954380" y="6121822"/>
            <a:ext cx="2058133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1900" b="1" spc="19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TECHNOLOGY</a:t>
            </a:r>
          </a:p>
        </p:txBody>
      </p:sp>
      <p:sp>
        <p:nvSpPr>
          <p:cNvPr id="276" name="Rectangle"/>
          <p:cNvSpPr/>
          <p:nvPr/>
        </p:nvSpPr>
        <p:spPr>
          <a:xfrm>
            <a:off x="18352465" y="388785"/>
            <a:ext cx="5539781" cy="1517453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7" name="Rectangle"/>
          <p:cNvSpPr/>
          <p:nvPr/>
        </p:nvSpPr>
        <p:spPr>
          <a:xfrm>
            <a:off x="23627925" y="354129"/>
            <a:ext cx="264319" cy="1552109"/>
          </a:xfrm>
          <a:prstGeom prst="rect">
            <a:avLst/>
          </a:prstGeom>
          <a:solidFill>
            <a:srgbClr val="50ABAD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8" name="Shape"/>
          <p:cNvSpPr/>
          <p:nvPr/>
        </p:nvSpPr>
        <p:spPr>
          <a:xfrm flipH="1">
            <a:off x="16619551" y="371457"/>
            <a:ext cx="1586230" cy="15521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0" h="21385" extrusionOk="0">
                <a:moveTo>
                  <a:pt x="0" y="14"/>
                </a:moveTo>
                <a:lnTo>
                  <a:pt x="0" y="21385"/>
                </a:lnTo>
                <a:lnTo>
                  <a:pt x="21192" y="21385"/>
                </a:lnTo>
                <a:cubicBezTo>
                  <a:pt x="21600" y="16103"/>
                  <a:pt x="19825" y="10882"/>
                  <a:pt x="16262" y="6883"/>
                </a:cubicBezTo>
                <a:cubicBezTo>
                  <a:pt x="12188" y="2311"/>
                  <a:pt x="6208" y="-215"/>
                  <a:pt x="0" y="14"/>
                </a:cubicBezTo>
                <a:close/>
              </a:path>
            </a:pathLst>
          </a:custGeom>
          <a:solidFill>
            <a:srgbClr val="50ABA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9" name="Shape"/>
          <p:cNvSpPr/>
          <p:nvPr/>
        </p:nvSpPr>
        <p:spPr>
          <a:xfrm rot="10800000" flipH="1">
            <a:off x="18194351" y="371457"/>
            <a:ext cx="1586230" cy="15521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0" h="21385" extrusionOk="0">
                <a:moveTo>
                  <a:pt x="0" y="14"/>
                </a:moveTo>
                <a:lnTo>
                  <a:pt x="0" y="21385"/>
                </a:lnTo>
                <a:lnTo>
                  <a:pt x="21192" y="21385"/>
                </a:lnTo>
                <a:cubicBezTo>
                  <a:pt x="21600" y="16103"/>
                  <a:pt x="19825" y="10882"/>
                  <a:pt x="16262" y="6883"/>
                </a:cubicBezTo>
                <a:cubicBezTo>
                  <a:pt x="12188" y="2311"/>
                  <a:pt x="6208" y="-215"/>
                  <a:pt x="0" y="14"/>
                </a:cubicBezTo>
                <a:close/>
              </a:path>
            </a:pathLst>
          </a:custGeom>
          <a:solidFill>
            <a:srgbClr val="50ABAD"/>
          </a:solidFill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0" name="4"/>
          <p:cNvSpPr txBox="1"/>
          <p:nvPr/>
        </p:nvSpPr>
        <p:spPr>
          <a:xfrm>
            <a:off x="18696587" y="698383"/>
            <a:ext cx="530958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90000"/>
              </a:lnSpc>
              <a:defRPr spc="499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4</a:t>
            </a:r>
          </a:p>
        </p:txBody>
      </p:sp>
      <p:sp>
        <p:nvSpPr>
          <p:cNvPr id="281" name="Clipboard"/>
          <p:cNvSpPr/>
          <p:nvPr/>
        </p:nvSpPr>
        <p:spPr>
          <a:xfrm>
            <a:off x="17392436" y="877030"/>
            <a:ext cx="496268" cy="7126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1" y="0"/>
                </a:moveTo>
                <a:cubicBezTo>
                  <a:pt x="9801" y="0"/>
                  <a:pt x="9330" y="294"/>
                  <a:pt x="8865" y="898"/>
                </a:cubicBezTo>
                <a:cubicBezTo>
                  <a:pt x="8394" y="1511"/>
                  <a:pt x="7651" y="1943"/>
                  <a:pt x="7089" y="1943"/>
                </a:cubicBezTo>
                <a:cubicBezTo>
                  <a:pt x="6826" y="1943"/>
                  <a:pt x="6299" y="1922"/>
                  <a:pt x="6037" y="1943"/>
                </a:cubicBezTo>
                <a:cubicBezTo>
                  <a:pt x="5104" y="2016"/>
                  <a:pt x="4553" y="2318"/>
                  <a:pt x="4308" y="2794"/>
                </a:cubicBezTo>
                <a:lnTo>
                  <a:pt x="1139" y="2794"/>
                </a:lnTo>
                <a:cubicBezTo>
                  <a:pt x="510" y="2794"/>
                  <a:pt x="0" y="3149"/>
                  <a:pt x="0" y="3587"/>
                </a:cubicBezTo>
                <a:lnTo>
                  <a:pt x="0" y="20807"/>
                </a:lnTo>
                <a:cubicBezTo>
                  <a:pt x="0" y="21245"/>
                  <a:pt x="510" y="21600"/>
                  <a:pt x="1139" y="21600"/>
                </a:cubicBezTo>
                <a:lnTo>
                  <a:pt x="20461" y="21600"/>
                </a:lnTo>
                <a:cubicBezTo>
                  <a:pt x="21090" y="21600"/>
                  <a:pt x="21600" y="21245"/>
                  <a:pt x="21600" y="20807"/>
                </a:cubicBezTo>
                <a:lnTo>
                  <a:pt x="21600" y="3587"/>
                </a:lnTo>
                <a:cubicBezTo>
                  <a:pt x="21600" y="3149"/>
                  <a:pt x="21090" y="2794"/>
                  <a:pt x="20461" y="2794"/>
                </a:cubicBezTo>
                <a:lnTo>
                  <a:pt x="17292" y="2794"/>
                </a:lnTo>
                <a:cubicBezTo>
                  <a:pt x="17047" y="2318"/>
                  <a:pt x="16496" y="2016"/>
                  <a:pt x="15563" y="1943"/>
                </a:cubicBezTo>
                <a:cubicBezTo>
                  <a:pt x="15301" y="1922"/>
                  <a:pt x="14774" y="1943"/>
                  <a:pt x="14511" y="1943"/>
                </a:cubicBezTo>
                <a:cubicBezTo>
                  <a:pt x="13949" y="1943"/>
                  <a:pt x="13209" y="1511"/>
                  <a:pt x="12738" y="898"/>
                </a:cubicBezTo>
                <a:cubicBezTo>
                  <a:pt x="12273" y="294"/>
                  <a:pt x="11802" y="0"/>
                  <a:pt x="10801" y="0"/>
                </a:cubicBezTo>
                <a:close/>
                <a:moveTo>
                  <a:pt x="10799" y="593"/>
                </a:moveTo>
                <a:cubicBezTo>
                  <a:pt x="11264" y="593"/>
                  <a:pt x="11644" y="857"/>
                  <a:pt x="11644" y="1181"/>
                </a:cubicBezTo>
                <a:cubicBezTo>
                  <a:pt x="11644" y="1506"/>
                  <a:pt x="11265" y="1767"/>
                  <a:pt x="10799" y="1767"/>
                </a:cubicBezTo>
                <a:cubicBezTo>
                  <a:pt x="10332" y="1767"/>
                  <a:pt x="9956" y="1506"/>
                  <a:pt x="9956" y="1181"/>
                </a:cubicBezTo>
                <a:cubicBezTo>
                  <a:pt x="9956" y="857"/>
                  <a:pt x="10333" y="593"/>
                  <a:pt x="10799" y="593"/>
                </a:cubicBezTo>
                <a:close/>
                <a:moveTo>
                  <a:pt x="1619" y="3923"/>
                </a:moveTo>
                <a:lnTo>
                  <a:pt x="4207" y="3923"/>
                </a:lnTo>
                <a:cubicBezTo>
                  <a:pt x="4263" y="4130"/>
                  <a:pt x="4364" y="4392"/>
                  <a:pt x="4364" y="4392"/>
                </a:cubicBezTo>
                <a:lnTo>
                  <a:pt x="10799" y="4392"/>
                </a:lnTo>
                <a:lnTo>
                  <a:pt x="17236" y="4392"/>
                </a:lnTo>
                <a:cubicBezTo>
                  <a:pt x="17236" y="4392"/>
                  <a:pt x="17337" y="4130"/>
                  <a:pt x="17393" y="3923"/>
                </a:cubicBezTo>
                <a:lnTo>
                  <a:pt x="19981" y="3923"/>
                </a:lnTo>
                <a:lnTo>
                  <a:pt x="19981" y="20471"/>
                </a:lnTo>
                <a:lnTo>
                  <a:pt x="1619" y="20471"/>
                </a:lnTo>
                <a:lnTo>
                  <a:pt x="1619" y="3923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82" name="PROJECT  METRICS"/>
          <p:cNvSpPr txBox="1"/>
          <p:nvPr/>
        </p:nvSpPr>
        <p:spPr>
          <a:xfrm>
            <a:off x="20594795" y="696882"/>
            <a:ext cx="2568041" cy="911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lnSpc>
                <a:spcPct val="120000"/>
              </a:lnSpc>
              <a:defRPr sz="2500" spc="249">
                <a:solidFill>
                  <a:schemeClr val="accent6">
                    <a:hueOff val="-133706"/>
                    <a:satOff val="8281"/>
                    <a:lumOff val="-27269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t>PROJECT  METRICS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ADFFB4B-BF83-4EB6-9629-67BB3E97E25C}"/>
              </a:ext>
            </a:extLst>
          </p:cNvPr>
          <p:cNvPicPr/>
          <p:nvPr/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20" y="690464"/>
            <a:ext cx="975701" cy="816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Line"/>
          <p:cNvSpPr/>
          <p:nvPr/>
        </p:nvSpPr>
        <p:spPr>
          <a:xfrm>
            <a:off x="4231556" y="4862720"/>
            <a:ext cx="18057441" cy="1"/>
          </a:xfrm>
          <a:prstGeom prst="line">
            <a:avLst/>
          </a:prstGeom>
          <a:ln>
            <a:solidFill>
              <a:srgbClr val="5A5F5E"/>
            </a:solidFill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85" name="Line"/>
          <p:cNvSpPr/>
          <p:nvPr/>
        </p:nvSpPr>
        <p:spPr>
          <a:xfrm flipV="1">
            <a:off x="5675807" y="4970830"/>
            <a:ext cx="1" cy="3082760"/>
          </a:xfrm>
          <a:prstGeom prst="line">
            <a:avLst/>
          </a:prstGeom>
          <a:ln w="12700">
            <a:solidFill>
              <a:srgbClr val="5A5F5E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87" name="25%"/>
          <p:cNvSpPr/>
          <p:nvPr/>
        </p:nvSpPr>
        <p:spPr>
          <a:xfrm>
            <a:off x="5067767" y="6129985"/>
            <a:ext cx="1151163" cy="1167155"/>
          </a:xfrm>
          <a:prstGeom prst="ellipse">
            <a:avLst/>
          </a:prstGeom>
          <a:solidFill>
            <a:srgbClr val="3177B7">
              <a:alpha val="91786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2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rPr dirty="0"/>
              <a:t>2</a:t>
            </a:r>
            <a:r>
              <a:rPr lang="en-US" dirty="0"/>
              <a:t>0</a:t>
            </a:r>
            <a:r>
              <a:rPr dirty="0"/>
              <a:t>%</a:t>
            </a:r>
          </a:p>
        </p:txBody>
      </p:sp>
      <p:sp>
        <p:nvSpPr>
          <p:cNvPr id="288" name="Line"/>
          <p:cNvSpPr/>
          <p:nvPr/>
        </p:nvSpPr>
        <p:spPr>
          <a:xfrm flipV="1">
            <a:off x="9382006" y="4798329"/>
            <a:ext cx="1" cy="3229394"/>
          </a:xfrm>
          <a:prstGeom prst="line">
            <a:avLst/>
          </a:prstGeom>
          <a:ln w="12700">
            <a:solidFill>
              <a:srgbClr val="5A5F5E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289" name="Oval"/>
          <p:cNvSpPr/>
          <p:nvPr/>
        </p:nvSpPr>
        <p:spPr>
          <a:xfrm>
            <a:off x="10036967" y="4715014"/>
            <a:ext cx="269427" cy="295413"/>
          </a:xfrm>
          <a:prstGeom prst="ellipse">
            <a:avLst/>
          </a:prstGeom>
          <a:solidFill>
            <a:schemeClr val="accent6">
              <a:satOff val="1848"/>
              <a:lumOff val="-15262"/>
              <a:alpha val="91786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0" name="Rectangle"/>
          <p:cNvSpPr/>
          <p:nvPr/>
        </p:nvSpPr>
        <p:spPr>
          <a:xfrm>
            <a:off x="3513979" y="8682145"/>
            <a:ext cx="3809865" cy="3408244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 marL="617220" indent="-342900" algn="l"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Data Collection,  extracting data from various public/private banks </a:t>
            </a:r>
          </a:p>
          <a:p>
            <a:pPr marL="617220" indent="-342900" algn="l">
              <a:buFont typeface="Arial" panose="020B0604020202020204" pitchFamily="34" charset="0"/>
              <a:buChar char="•"/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chemeClr val="bg1"/>
                </a:solidFill>
              </a:rPr>
              <a:t>Market study, competition analysis and various product features planning</a:t>
            </a:r>
            <a:endParaRPr sz="2400" dirty="0">
              <a:solidFill>
                <a:schemeClr val="bg1"/>
              </a:solidFill>
            </a:endParaRPr>
          </a:p>
        </p:txBody>
      </p:sp>
      <p:sp>
        <p:nvSpPr>
          <p:cNvPr id="291" name="Rectangle"/>
          <p:cNvSpPr/>
          <p:nvPr/>
        </p:nvSpPr>
        <p:spPr>
          <a:xfrm>
            <a:off x="3523809" y="8020286"/>
            <a:ext cx="3809864" cy="712624"/>
          </a:xfrm>
          <a:prstGeom prst="rect">
            <a:avLst/>
          </a:prstGeom>
          <a:solidFill>
            <a:srgbClr val="3177B7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292" name="MILESTONE 1"/>
          <p:cNvSpPr txBox="1"/>
          <p:nvPr/>
        </p:nvSpPr>
        <p:spPr>
          <a:xfrm>
            <a:off x="4007862" y="8109915"/>
            <a:ext cx="2760496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30000"/>
              </a:lnSpc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MILESTONE 1</a:t>
            </a:r>
          </a:p>
        </p:txBody>
      </p:sp>
      <p:sp>
        <p:nvSpPr>
          <p:cNvPr id="293" name="Rectangle"/>
          <p:cNvSpPr/>
          <p:nvPr/>
        </p:nvSpPr>
        <p:spPr>
          <a:xfrm>
            <a:off x="7663573" y="8708010"/>
            <a:ext cx="3587694" cy="3382379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 marL="61722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Data cleaning, </a:t>
            </a:r>
            <a:r>
              <a:rPr lang="en-US" sz="2400" dirty="0">
                <a:solidFill>
                  <a:srgbClr val="340053"/>
                </a:solidFill>
                <a:latin typeface="Gill Sans Light"/>
              </a:rPr>
              <a:t>ML/DL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 based model development, initial testing</a:t>
            </a:r>
          </a:p>
          <a:p>
            <a:pPr marL="61722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Initial Budget working</a:t>
            </a:r>
          </a:p>
          <a:p>
            <a:pPr marL="61722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Marketing of AI product,  building POC and live demonstrations   </a:t>
            </a:r>
          </a:p>
        </p:txBody>
      </p:sp>
      <p:sp>
        <p:nvSpPr>
          <p:cNvPr id="294" name="Rectangle"/>
          <p:cNvSpPr/>
          <p:nvPr/>
        </p:nvSpPr>
        <p:spPr>
          <a:xfrm>
            <a:off x="7673404" y="8046152"/>
            <a:ext cx="3587693" cy="712624"/>
          </a:xfrm>
          <a:prstGeom prst="rect">
            <a:avLst/>
          </a:prstGeom>
          <a:solidFill>
            <a:srgbClr val="3177B7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5" name="MILESTONE 2"/>
          <p:cNvSpPr txBox="1"/>
          <p:nvPr/>
        </p:nvSpPr>
        <p:spPr>
          <a:xfrm>
            <a:off x="8108757" y="8135063"/>
            <a:ext cx="2760496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30000"/>
              </a:lnSpc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MILESTONE 2</a:t>
            </a:r>
          </a:p>
        </p:txBody>
      </p:sp>
      <p:sp>
        <p:nvSpPr>
          <p:cNvPr id="296" name="50%"/>
          <p:cNvSpPr/>
          <p:nvPr/>
        </p:nvSpPr>
        <p:spPr>
          <a:xfrm>
            <a:off x="8835339" y="6105051"/>
            <a:ext cx="1151163" cy="1167155"/>
          </a:xfrm>
          <a:prstGeom prst="ellipse">
            <a:avLst/>
          </a:prstGeom>
          <a:solidFill>
            <a:srgbClr val="3177B7">
              <a:alpha val="91786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2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rPr lang="en-US" dirty="0"/>
              <a:t>4</a:t>
            </a:r>
            <a:r>
              <a:rPr dirty="0"/>
              <a:t>0%</a:t>
            </a:r>
          </a:p>
        </p:txBody>
      </p:sp>
      <p:sp>
        <p:nvSpPr>
          <p:cNvPr id="297" name="Rectangle"/>
          <p:cNvSpPr/>
          <p:nvPr/>
        </p:nvSpPr>
        <p:spPr>
          <a:xfrm>
            <a:off x="2833166" y="4811004"/>
            <a:ext cx="1984201" cy="712624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8" name="Rectangle"/>
          <p:cNvSpPr/>
          <p:nvPr/>
        </p:nvSpPr>
        <p:spPr>
          <a:xfrm>
            <a:off x="2842996" y="4149145"/>
            <a:ext cx="1964541" cy="712624"/>
          </a:xfrm>
          <a:prstGeom prst="rect">
            <a:avLst/>
          </a:prstGeom>
          <a:solidFill>
            <a:srgbClr val="CA555B"/>
          </a:solidFill>
          <a:ln w="12700">
            <a:miter lim="400000"/>
          </a:ln>
          <a:effectLst>
            <a:outerShdw blurRad="88900" dist="70253" dir="5400000" rotWithShape="0">
              <a:schemeClr val="accent6">
                <a:hueOff val="-133706"/>
                <a:satOff val="8281"/>
                <a:lumOff val="-27269"/>
                <a:alpha val="16449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99" name="START DATE"/>
          <p:cNvSpPr txBox="1"/>
          <p:nvPr/>
        </p:nvSpPr>
        <p:spPr>
          <a:xfrm>
            <a:off x="2949998" y="4314956"/>
            <a:ext cx="1867370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30000"/>
              </a:lnSpc>
              <a:defRPr sz="18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START DATE</a:t>
            </a:r>
          </a:p>
        </p:txBody>
      </p:sp>
      <p:sp>
        <p:nvSpPr>
          <p:cNvPr id="300" name="Rectangle"/>
          <p:cNvSpPr/>
          <p:nvPr/>
        </p:nvSpPr>
        <p:spPr>
          <a:xfrm>
            <a:off x="8334359" y="4811004"/>
            <a:ext cx="1984202" cy="712624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1" name="Rectangle"/>
          <p:cNvSpPr/>
          <p:nvPr/>
        </p:nvSpPr>
        <p:spPr>
          <a:xfrm>
            <a:off x="8344190" y="4149145"/>
            <a:ext cx="1964541" cy="712624"/>
          </a:xfrm>
          <a:prstGeom prst="rect">
            <a:avLst/>
          </a:prstGeom>
          <a:solidFill>
            <a:srgbClr val="CA555B"/>
          </a:solidFill>
          <a:ln w="12700">
            <a:miter lim="400000"/>
          </a:ln>
          <a:effectLst>
            <a:outerShdw blurRad="88900" dist="70253" dir="5400000" rotWithShape="0">
              <a:schemeClr val="accent6">
                <a:hueOff val="-133706"/>
                <a:satOff val="8281"/>
                <a:lumOff val="-27269"/>
                <a:alpha val="16449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2" name="DATE"/>
          <p:cNvSpPr txBox="1"/>
          <p:nvPr/>
        </p:nvSpPr>
        <p:spPr>
          <a:xfrm>
            <a:off x="8750878" y="4314956"/>
            <a:ext cx="1151163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30000"/>
              </a:lnSpc>
              <a:defRPr sz="18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DATE</a:t>
            </a:r>
          </a:p>
        </p:txBody>
      </p:sp>
      <p:sp>
        <p:nvSpPr>
          <p:cNvPr id="303" name="Line"/>
          <p:cNvSpPr/>
          <p:nvPr/>
        </p:nvSpPr>
        <p:spPr>
          <a:xfrm flipV="1">
            <a:off x="13326314" y="4777225"/>
            <a:ext cx="1" cy="3229394"/>
          </a:xfrm>
          <a:prstGeom prst="line">
            <a:avLst/>
          </a:prstGeom>
          <a:ln w="12700">
            <a:solidFill>
              <a:srgbClr val="5A5F5E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04" name="Oval"/>
          <p:cNvSpPr/>
          <p:nvPr/>
        </p:nvSpPr>
        <p:spPr>
          <a:xfrm>
            <a:off x="13191602" y="4693910"/>
            <a:ext cx="269426" cy="295412"/>
          </a:xfrm>
          <a:prstGeom prst="ellipse">
            <a:avLst/>
          </a:prstGeom>
          <a:solidFill>
            <a:schemeClr val="accent6">
              <a:satOff val="1848"/>
              <a:lumOff val="-15262"/>
              <a:alpha val="91786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5" name="Rectangle"/>
          <p:cNvSpPr/>
          <p:nvPr/>
        </p:nvSpPr>
        <p:spPr>
          <a:xfrm>
            <a:off x="11626036" y="8686906"/>
            <a:ext cx="3587693" cy="3403485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 marL="61722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340053"/>
                </a:solidFill>
                <a:latin typeface="Gill Sans Light"/>
              </a:rPr>
              <a:t>ML/DL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 model finalization with testing data and actual data from </a:t>
            </a:r>
            <a:r>
              <a:rPr lang="en-US" sz="2400" dirty="0">
                <a:solidFill>
                  <a:srgbClr val="340053"/>
                </a:solidFill>
                <a:latin typeface="Gill Sans Light"/>
              </a:rPr>
              <a:t>banks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40053"/>
              </a:solidFill>
              <a:effectLst/>
              <a:uLnTx/>
              <a:uFillTx/>
              <a:latin typeface="Gill Sans Light"/>
              <a:sym typeface="Gill Sans Light"/>
            </a:endParaRPr>
          </a:p>
          <a:p>
            <a:pPr marL="61722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 Study of infrastructure of </a:t>
            </a:r>
            <a:r>
              <a:rPr lang="en-US" sz="2400" dirty="0">
                <a:solidFill>
                  <a:srgbClr val="340053"/>
                </a:solidFill>
                <a:latin typeface="Gill Sans Light"/>
              </a:rPr>
              <a:t>banks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 where the deployment is planned </a:t>
            </a:r>
          </a:p>
          <a:p>
            <a:pPr marL="61722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Final budget quote</a:t>
            </a:r>
          </a:p>
        </p:txBody>
      </p:sp>
      <p:sp>
        <p:nvSpPr>
          <p:cNvPr id="306" name="Rectangle"/>
          <p:cNvSpPr/>
          <p:nvPr/>
        </p:nvSpPr>
        <p:spPr>
          <a:xfrm>
            <a:off x="11635866" y="8025048"/>
            <a:ext cx="3577863" cy="712623"/>
          </a:xfrm>
          <a:prstGeom prst="rect">
            <a:avLst/>
          </a:prstGeom>
          <a:solidFill>
            <a:srgbClr val="3177B7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07" name="MILESTONE 2"/>
          <p:cNvSpPr txBox="1"/>
          <p:nvPr/>
        </p:nvSpPr>
        <p:spPr>
          <a:xfrm>
            <a:off x="12021892" y="8105996"/>
            <a:ext cx="2760497" cy="550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30000"/>
              </a:lnSpc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MILESTONE </a:t>
            </a:r>
            <a:r>
              <a:rPr lang="en-US" dirty="0"/>
              <a:t>3</a:t>
            </a:r>
            <a:endParaRPr dirty="0"/>
          </a:p>
        </p:txBody>
      </p:sp>
      <p:sp>
        <p:nvSpPr>
          <p:cNvPr id="308" name="80%"/>
          <p:cNvSpPr/>
          <p:nvPr/>
        </p:nvSpPr>
        <p:spPr>
          <a:xfrm>
            <a:off x="12779647" y="6083947"/>
            <a:ext cx="1151164" cy="1167155"/>
          </a:xfrm>
          <a:prstGeom prst="ellipse">
            <a:avLst/>
          </a:prstGeom>
          <a:solidFill>
            <a:srgbClr val="3177B7">
              <a:alpha val="91786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2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rPr lang="en-US" dirty="0"/>
              <a:t>70</a:t>
            </a:r>
            <a:r>
              <a:rPr dirty="0"/>
              <a:t>%</a:t>
            </a:r>
          </a:p>
        </p:txBody>
      </p:sp>
      <p:sp>
        <p:nvSpPr>
          <p:cNvPr id="309" name="Rectangle"/>
          <p:cNvSpPr/>
          <p:nvPr/>
        </p:nvSpPr>
        <p:spPr>
          <a:xfrm>
            <a:off x="12363128" y="4751575"/>
            <a:ext cx="1984202" cy="712624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0" name="Rectangle"/>
          <p:cNvSpPr/>
          <p:nvPr/>
        </p:nvSpPr>
        <p:spPr>
          <a:xfrm>
            <a:off x="12372959" y="4089715"/>
            <a:ext cx="1964541" cy="712624"/>
          </a:xfrm>
          <a:prstGeom prst="rect">
            <a:avLst/>
          </a:prstGeom>
          <a:solidFill>
            <a:srgbClr val="CA555B"/>
          </a:solidFill>
          <a:ln w="12700">
            <a:miter lim="400000"/>
          </a:ln>
          <a:effectLst>
            <a:outerShdw blurRad="88900" dist="70253" dir="5400000" rotWithShape="0">
              <a:schemeClr val="accent6">
                <a:hueOff val="-133706"/>
                <a:satOff val="8281"/>
                <a:lumOff val="-27269"/>
                <a:alpha val="16449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1" name="DATE"/>
          <p:cNvSpPr txBox="1"/>
          <p:nvPr/>
        </p:nvSpPr>
        <p:spPr>
          <a:xfrm>
            <a:off x="12779649" y="4255527"/>
            <a:ext cx="1151163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30000"/>
              </a:lnSpc>
              <a:defRPr sz="18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DATE</a:t>
            </a:r>
          </a:p>
        </p:txBody>
      </p:sp>
      <p:sp>
        <p:nvSpPr>
          <p:cNvPr id="312" name="Line"/>
          <p:cNvSpPr/>
          <p:nvPr/>
        </p:nvSpPr>
        <p:spPr>
          <a:xfrm flipV="1">
            <a:off x="17347521" y="4772229"/>
            <a:ext cx="1" cy="3229395"/>
          </a:xfrm>
          <a:prstGeom prst="line">
            <a:avLst/>
          </a:prstGeom>
          <a:ln w="12700">
            <a:solidFill>
              <a:srgbClr val="5A5F5E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313" name="Oval"/>
          <p:cNvSpPr/>
          <p:nvPr/>
        </p:nvSpPr>
        <p:spPr>
          <a:xfrm>
            <a:off x="17212809" y="4688914"/>
            <a:ext cx="269426" cy="295412"/>
          </a:xfrm>
          <a:prstGeom prst="ellipse">
            <a:avLst/>
          </a:prstGeom>
          <a:solidFill>
            <a:schemeClr val="accent6">
              <a:satOff val="1848"/>
              <a:lumOff val="-15262"/>
              <a:alpha val="91786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4" name="Rectangle"/>
          <p:cNvSpPr/>
          <p:nvPr/>
        </p:nvSpPr>
        <p:spPr>
          <a:xfrm>
            <a:off x="15589123" y="8682144"/>
            <a:ext cx="3611032" cy="3408245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 marL="61722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Required hardware, software purchase for hospital</a:t>
            </a:r>
          </a:p>
          <a:p>
            <a:pPr marL="61722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Deployment of beta version of the model</a:t>
            </a:r>
          </a:p>
          <a:p>
            <a:pPr marL="61722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Testing on live data</a:t>
            </a:r>
          </a:p>
          <a:p>
            <a:pPr marL="61722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340053"/>
                </a:solidFill>
                <a:latin typeface="Gill Sans Light"/>
              </a:rPr>
              <a:t>Model tweaking as necessary</a:t>
            </a: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40053"/>
              </a:solidFill>
              <a:effectLst/>
              <a:uLnTx/>
              <a:uFillTx/>
              <a:latin typeface="Gill Sans Light"/>
              <a:sym typeface="Gill Sans Light"/>
            </a:endParaRPr>
          </a:p>
        </p:txBody>
      </p:sp>
      <p:sp>
        <p:nvSpPr>
          <p:cNvPr id="315" name="Rectangle"/>
          <p:cNvSpPr/>
          <p:nvPr/>
        </p:nvSpPr>
        <p:spPr>
          <a:xfrm>
            <a:off x="15608783" y="8020052"/>
            <a:ext cx="3558259" cy="712624"/>
          </a:xfrm>
          <a:prstGeom prst="rect">
            <a:avLst/>
          </a:prstGeom>
          <a:solidFill>
            <a:srgbClr val="3177B7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6" name="MILESTONE 2"/>
          <p:cNvSpPr txBox="1"/>
          <p:nvPr/>
        </p:nvSpPr>
        <p:spPr>
          <a:xfrm>
            <a:off x="15984918" y="8101000"/>
            <a:ext cx="2760496" cy="550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30000"/>
              </a:lnSpc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MILESTONE </a:t>
            </a:r>
            <a:r>
              <a:rPr lang="en-US" dirty="0"/>
              <a:t>4</a:t>
            </a:r>
            <a:endParaRPr dirty="0"/>
          </a:p>
        </p:txBody>
      </p:sp>
      <p:sp>
        <p:nvSpPr>
          <p:cNvPr id="317" name="100%"/>
          <p:cNvSpPr/>
          <p:nvPr/>
        </p:nvSpPr>
        <p:spPr>
          <a:xfrm>
            <a:off x="16800854" y="6078951"/>
            <a:ext cx="1151163" cy="1167155"/>
          </a:xfrm>
          <a:prstGeom prst="ellipse">
            <a:avLst/>
          </a:prstGeom>
          <a:solidFill>
            <a:srgbClr val="3177B7">
              <a:alpha val="91786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2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rPr lang="en-US" dirty="0"/>
              <a:t>90</a:t>
            </a:r>
            <a:r>
              <a:rPr dirty="0"/>
              <a:t>%</a:t>
            </a:r>
          </a:p>
        </p:txBody>
      </p:sp>
      <p:sp>
        <p:nvSpPr>
          <p:cNvPr id="318" name="Rectangle"/>
          <p:cNvSpPr/>
          <p:nvPr/>
        </p:nvSpPr>
        <p:spPr>
          <a:xfrm>
            <a:off x="-38009" y="-86877"/>
            <a:ext cx="2117721" cy="13789810"/>
          </a:xfrm>
          <a:prstGeom prst="rect">
            <a:avLst/>
          </a:prstGeom>
          <a:gradFill>
            <a:gsLst>
              <a:gs pos="0">
                <a:srgbClr val="2BAFC7"/>
              </a:gs>
              <a:gs pos="100000">
                <a:srgbClr val="3476A6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19" name="AIFL - PROJECT"/>
          <p:cNvSpPr txBox="1"/>
          <p:nvPr/>
        </p:nvSpPr>
        <p:spPr>
          <a:xfrm rot="16200000">
            <a:off x="-4175015" y="7034049"/>
            <a:ext cx="10391733" cy="114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90000"/>
              </a:lnSpc>
              <a:defRPr sz="7500" spc="525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lang="en-US" dirty="0"/>
              <a:t>TRINADE</a:t>
            </a:r>
            <a:r>
              <a:rPr dirty="0"/>
              <a:t> - PROJECT</a:t>
            </a:r>
          </a:p>
        </p:txBody>
      </p:sp>
      <p:sp>
        <p:nvSpPr>
          <p:cNvPr id="320" name="Paint Splatter"/>
          <p:cNvSpPr/>
          <p:nvPr/>
        </p:nvSpPr>
        <p:spPr>
          <a:xfrm>
            <a:off x="96908" y="226321"/>
            <a:ext cx="1847887" cy="1825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65" h="21541" extrusionOk="0">
                <a:moveTo>
                  <a:pt x="18778" y="6"/>
                </a:moveTo>
                <a:cubicBezTo>
                  <a:pt x="17680" y="134"/>
                  <a:pt x="17057" y="2145"/>
                  <a:pt x="17057" y="2145"/>
                </a:cubicBezTo>
                <a:cubicBezTo>
                  <a:pt x="16852" y="3359"/>
                  <a:pt x="15985" y="3890"/>
                  <a:pt x="15481" y="4101"/>
                </a:cubicBezTo>
                <a:cubicBezTo>
                  <a:pt x="14194" y="4297"/>
                  <a:pt x="13397" y="3507"/>
                  <a:pt x="13053" y="1869"/>
                </a:cubicBezTo>
                <a:cubicBezTo>
                  <a:pt x="12537" y="2880"/>
                  <a:pt x="11654" y="3375"/>
                  <a:pt x="10752" y="3375"/>
                </a:cubicBezTo>
                <a:cubicBezTo>
                  <a:pt x="10038" y="3375"/>
                  <a:pt x="9410" y="2981"/>
                  <a:pt x="9042" y="2385"/>
                </a:cubicBezTo>
                <a:cubicBezTo>
                  <a:pt x="9027" y="2364"/>
                  <a:pt x="9047" y="2392"/>
                  <a:pt x="9027" y="2365"/>
                </a:cubicBezTo>
                <a:cubicBezTo>
                  <a:pt x="8712" y="1939"/>
                  <a:pt x="8495" y="1267"/>
                  <a:pt x="8495" y="1267"/>
                </a:cubicBezTo>
                <a:cubicBezTo>
                  <a:pt x="8387" y="975"/>
                  <a:pt x="8079" y="832"/>
                  <a:pt x="7808" y="949"/>
                </a:cubicBezTo>
                <a:cubicBezTo>
                  <a:pt x="7536" y="1065"/>
                  <a:pt x="7403" y="1396"/>
                  <a:pt x="7512" y="1688"/>
                </a:cubicBezTo>
                <a:cubicBezTo>
                  <a:pt x="7512" y="1688"/>
                  <a:pt x="8063" y="2709"/>
                  <a:pt x="7926" y="3310"/>
                </a:cubicBezTo>
                <a:cubicBezTo>
                  <a:pt x="7837" y="3703"/>
                  <a:pt x="7904" y="4946"/>
                  <a:pt x="6218" y="5135"/>
                </a:cubicBezTo>
                <a:cubicBezTo>
                  <a:pt x="5752" y="5188"/>
                  <a:pt x="5327" y="4932"/>
                  <a:pt x="5018" y="4604"/>
                </a:cubicBezTo>
                <a:cubicBezTo>
                  <a:pt x="5009" y="4602"/>
                  <a:pt x="5000" y="4602"/>
                  <a:pt x="4991" y="4600"/>
                </a:cubicBezTo>
                <a:cubicBezTo>
                  <a:pt x="5214" y="6253"/>
                  <a:pt x="4846" y="7549"/>
                  <a:pt x="3835" y="8175"/>
                </a:cubicBezTo>
                <a:cubicBezTo>
                  <a:pt x="3057" y="8564"/>
                  <a:pt x="1662" y="8170"/>
                  <a:pt x="1662" y="8170"/>
                </a:cubicBezTo>
                <a:cubicBezTo>
                  <a:pt x="1662" y="8170"/>
                  <a:pt x="3252" y="9037"/>
                  <a:pt x="3447" y="9405"/>
                </a:cubicBezTo>
                <a:cubicBezTo>
                  <a:pt x="3642" y="9774"/>
                  <a:pt x="3739" y="10487"/>
                  <a:pt x="3611" y="11024"/>
                </a:cubicBezTo>
                <a:cubicBezTo>
                  <a:pt x="3469" y="11466"/>
                  <a:pt x="3110" y="11975"/>
                  <a:pt x="2194" y="11735"/>
                </a:cubicBezTo>
                <a:cubicBezTo>
                  <a:pt x="2194" y="11735"/>
                  <a:pt x="-293" y="11137"/>
                  <a:pt x="29" y="13686"/>
                </a:cubicBezTo>
                <a:cubicBezTo>
                  <a:pt x="29" y="13686"/>
                  <a:pt x="572" y="16056"/>
                  <a:pt x="2540" y="14422"/>
                </a:cubicBezTo>
                <a:cubicBezTo>
                  <a:pt x="3229" y="13850"/>
                  <a:pt x="3466" y="13680"/>
                  <a:pt x="3758" y="13817"/>
                </a:cubicBezTo>
                <a:cubicBezTo>
                  <a:pt x="4891" y="14598"/>
                  <a:pt x="5317" y="15680"/>
                  <a:pt x="4758" y="17390"/>
                </a:cubicBezTo>
                <a:cubicBezTo>
                  <a:pt x="7376" y="16540"/>
                  <a:pt x="8461" y="17351"/>
                  <a:pt x="8474" y="18455"/>
                </a:cubicBezTo>
                <a:cubicBezTo>
                  <a:pt x="8487" y="19560"/>
                  <a:pt x="8015" y="19973"/>
                  <a:pt x="8015" y="19973"/>
                </a:cubicBezTo>
                <a:cubicBezTo>
                  <a:pt x="7078" y="21279"/>
                  <a:pt x="8131" y="21539"/>
                  <a:pt x="8131" y="21539"/>
                </a:cubicBezTo>
                <a:cubicBezTo>
                  <a:pt x="8923" y="21597"/>
                  <a:pt x="8788" y="20282"/>
                  <a:pt x="8788" y="20282"/>
                </a:cubicBezTo>
                <a:cubicBezTo>
                  <a:pt x="8765" y="19731"/>
                  <a:pt x="8951" y="18719"/>
                  <a:pt x="9193" y="18402"/>
                </a:cubicBezTo>
                <a:cubicBezTo>
                  <a:pt x="9719" y="17713"/>
                  <a:pt x="12920" y="16968"/>
                  <a:pt x="13661" y="20186"/>
                </a:cubicBezTo>
                <a:cubicBezTo>
                  <a:pt x="13940" y="17526"/>
                  <a:pt x="16095" y="16040"/>
                  <a:pt x="16894" y="17208"/>
                </a:cubicBezTo>
                <a:cubicBezTo>
                  <a:pt x="17606" y="18250"/>
                  <a:pt x="17592" y="18779"/>
                  <a:pt x="18341" y="19048"/>
                </a:cubicBezTo>
                <a:cubicBezTo>
                  <a:pt x="18817" y="19219"/>
                  <a:pt x="19267" y="18578"/>
                  <a:pt x="19121" y="18094"/>
                </a:cubicBezTo>
                <a:cubicBezTo>
                  <a:pt x="18976" y="17610"/>
                  <a:pt x="18406" y="17609"/>
                  <a:pt x="17445" y="16640"/>
                </a:cubicBezTo>
                <a:cubicBezTo>
                  <a:pt x="16491" y="15680"/>
                  <a:pt x="17449" y="12361"/>
                  <a:pt x="18805" y="12812"/>
                </a:cubicBezTo>
                <a:cubicBezTo>
                  <a:pt x="19049" y="12893"/>
                  <a:pt x="19141" y="12986"/>
                  <a:pt x="19373" y="13014"/>
                </a:cubicBezTo>
                <a:cubicBezTo>
                  <a:pt x="19604" y="13043"/>
                  <a:pt x="19842" y="12954"/>
                  <a:pt x="19868" y="12752"/>
                </a:cubicBezTo>
                <a:cubicBezTo>
                  <a:pt x="19895" y="12550"/>
                  <a:pt x="19769" y="12416"/>
                  <a:pt x="19498" y="12345"/>
                </a:cubicBezTo>
                <a:cubicBezTo>
                  <a:pt x="19278" y="12287"/>
                  <a:pt x="19167" y="12369"/>
                  <a:pt x="18803" y="12220"/>
                </a:cubicBezTo>
                <a:cubicBezTo>
                  <a:pt x="17193" y="11564"/>
                  <a:pt x="17586" y="8705"/>
                  <a:pt x="19810" y="7865"/>
                </a:cubicBezTo>
                <a:cubicBezTo>
                  <a:pt x="17967" y="7771"/>
                  <a:pt x="16765" y="6843"/>
                  <a:pt x="16623" y="5495"/>
                </a:cubicBezTo>
                <a:cubicBezTo>
                  <a:pt x="16548" y="3927"/>
                  <a:pt x="18428" y="3479"/>
                  <a:pt x="18428" y="3479"/>
                </a:cubicBezTo>
                <a:cubicBezTo>
                  <a:pt x="21307" y="2438"/>
                  <a:pt x="19943" y="558"/>
                  <a:pt x="19943" y="558"/>
                </a:cubicBezTo>
                <a:cubicBezTo>
                  <a:pt x="19603" y="206"/>
                  <a:pt x="19290" y="41"/>
                  <a:pt x="19004" y="6"/>
                </a:cubicBezTo>
                <a:cubicBezTo>
                  <a:pt x="18927" y="-3"/>
                  <a:pt x="18851" y="-2"/>
                  <a:pt x="18778" y="6"/>
                </a:cubicBezTo>
                <a:close/>
              </a:path>
            </a:pathLst>
          </a:custGeom>
          <a:solidFill>
            <a:srgbClr val="FAFAFA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2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40" y="782536"/>
            <a:ext cx="712623" cy="712623"/>
          </a:xfrm>
          <a:prstGeom prst="rect">
            <a:avLst/>
          </a:prstGeom>
          <a:ln w="12700">
            <a:miter lim="400000"/>
          </a:ln>
        </p:spPr>
      </p:pic>
      <p:sp>
        <p:nvSpPr>
          <p:cNvPr id="322" name="XYZ MONTH"/>
          <p:cNvSpPr txBox="1"/>
          <p:nvPr/>
        </p:nvSpPr>
        <p:spPr>
          <a:xfrm>
            <a:off x="2891582" y="4977520"/>
            <a:ext cx="1867369" cy="379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 b="1" spc="126">
                <a:solidFill>
                  <a:schemeClr val="accent6">
                    <a:satOff val="1848"/>
                    <a:lumOff val="-15262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dirty="0"/>
              <a:t>01 July 2021</a:t>
            </a:r>
            <a:endParaRPr dirty="0"/>
          </a:p>
        </p:txBody>
      </p:sp>
      <p:sp>
        <p:nvSpPr>
          <p:cNvPr id="323" name="XYZ MONTH"/>
          <p:cNvSpPr txBox="1"/>
          <p:nvPr/>
        </p:nvSpPr>
        <p:spPr>
          <a:xfrm>
            <a:off x="8492518" y="4977520"/>
            <a:ext cx="1867369" cy="379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 b="1" spc="126">
                <a:solidFill>
                  <a:schemeClr val="accent6">
                    <a:satOff val="1848"/>
                    <a:lumOff val="-15262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dirty="0"/>
              <a:t>15 Aug 2021</a:t>
            </a:r>
            <a:endParaRPr dirty="0"/>
          </a:p>
        </p:txBody>
      </p:sp>
      <p:sp>
        <p:nvSpPr>
          <p:cNvPr id="324" name="XYZ MONTH"/>
          <p:cNvSpPr txBox="1"/>
          <p:nvPr/>
        </p:nvSpPr>
        <p:spPr>
          <a:xfrm>
            <a:off x="12467162" y="4938491"/>
            <a:ext cx="1867370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 b="1" spc="126">
                <a:solidFill>
                  <a:schemeClr val="accent6">
                    <a:satOff val="1848"/>
                    <a:lumOff val="-15262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dirty="0"/>
              <a:t>01 Sep 2021</a:t>
            </a:r>
            <a:endParaRPr dirty="0"/>
          </a:p>
        </p:txBody>
      </p:sp>
      <p:sp>
        <p:nvSpPr>
          <p:cNvPr id="325" name="Rectangle"/>
          <p:cNvSpPr/>
          <p:nvPr/>
        </p:nvSpPr>
        <p:spPr>
          <a:xfrm>
            <a:off x="18352465" y="388785"/>
            <a:ext cx="5539781" cy="1517453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6" name="Rectangle"/>
          <p:cNvSpPr/>
          <p:nvPr/>
        </p:nvSpPr>
        <p:spPr>
          <a:xfrm>
            <a:off x="23627925" y="354129"/>
            <a:ext cx="264319" cy="1552109"/>
          </a:xfrm>
          <a:prstGeom prst="rect">
            <a:avLst/>
          </a:prstGeom>
          <a:solidFill>
            <a:srgbClr val="50ABAD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7" name="Shape"/>
          <p:cNvSpPr/>
          <p:nvPr/>
        </p:nvSpPr>
        <p:spPr>
          <a:xfrm flipH="1">
            <a:off x="16619551" y="371457"/>
            <a:ext cx="1586230" cy="15521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0" h="21385" extrusionOk="0">
                <a:moveTo>
                  <a:pt x="0" y="14"/>
                </a:moveTo>
                <a:lnTo>
                  <a:pt x="0" y="21385"/>
                </a:lnTo>
                <a:lnTo>
                  <a:pt x="21192" y="21385"/>
                </a:lnTo>
                <a:cubicBezTo>
                  <a:pt x="21600" y="16103"/>
                  <a:pt x="19825" y="10882"/>
                  <a:pt x="16262" y="6883"/>
                </a:cubicBezTo>
                <a:cubicBezTo>
                  <a:pt x="12188" y="2311"/>
                  <a:pt x="6208" y="-215"/>
                  <a:pt x="0" y="14"/>
                </a:cubicBezTo>
                <a:close/>
              </a:path>
            </a:pathLst>
          </a:custGeom>
          <a:solidFill>
            <a:srgbClr val="50ABA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8" name="Shape"/>
          <p:cNvSpPr/>
          <p:nvPr/>
        </p:nvSpPr>
        <p:spPr>
          <a:xfrm rot="10800000" flipH="1">
            <a:off x="18194351" y="371457"/>
            <a:ext cx="1586230" cy="15521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0" h="21385" extrusionOk="0">
                <a:moveTo>
                  <a:pt x="0" y="14"/>
                </a:moveTo>
                <a:lnTo>
                  <a:pt x="0" y="21385"/>
                </a:lnTo>
                <a:lnTo>
                  <a:pt x="21192" y="21385"/>
                </a:lnTo>
                <a:cubicBezTo>
                  <a:pt x="21600" y="16103"/>
                  <a:pt x="19825" y="10882"/>
                  <a:pt x="16262" y="6883"/>
                </a:cubicBezTo>
                <a:cubicBezTo>
                  <a:pt x="12188" y="2311"/>
                  <a:pt x="6208" y="-215"/>
                  <a:pt x="0" y="14"/>
                </a:cubicBezTo>
                <a:close/>
              </a:path>
            </a:pathLst>
          </a:custGeom>
          <a:solidFill>
            <a:srgbClr val="50ABAD"/>
          </a:solidFill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29" name="4"/>
          <p:cNvSpPr txBox="1"/>
          <p:nvPr/>
        </p:nvSpPr>
        <p:spPr>
          <a:xfrm>
            <a:off x="18696587" y="698383"/>
            <a:ext cx="530958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90000"/>
              </a:lnSpc>
              <a:defRPr spc="499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4</a:t>
            </a:r>
          </a:p>
        </p:txBody>
      </p:sp>
      <p:sp>
        <p:nvSpPr>
          <p:cNvPr id="330" name="Clipboard"/>
          <p:cNvSpPr/>
          <p:nvPr/>
        </p:nvSpPr>
        <p:spPr>
          <a:xfrm>
            <a:off x="17392436" y="877030"/>
            <a:ext cx="496268" cy="7126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1" y="0"/>
                </a:moveTo>
                <a:cubicBezTo>
                  <a:pt x="9801" y="0"/>
                  <a:pt x="9330" y="294"/>
                  <a:pt x="8865" y="898"/>
                </a:cubicBezTo>
                <a:cubicBezTo>
                  <a:pt x="8394" y="1511"/>
                  <a:pt x="7651" y="1943"/>
                  <a:pt x="7089" y="1943"/>
                </a:cubicBezTo>
                <a:cubicBezTo>
                  <a:pt x="6826" y="1943"/>
                  <a:pt x="6299" y="1922"/>
                  <a:pt x="6037" y="1943"/>
                </a:cubicBezTo>
                <a:cubicBezTo>
                  <a:pt x="5104" y="2016"/>
                  <a:pt x="4553" y="2318"/>
                  <a:pt x="4308" y="2794"/>
                </a:cubicBezTo>
                <a:lnTo>
                  <a:pt x="1139" y="2794"/>
                </a:lnTo>
                <a:cubicBezTo>
                  <a:pt x="510" y="2794"/>
                  <a:pt x="0" y="3149"/>
                  <a:pt x="0" y="3587"/>
                </a:cubicBezTo>
                <a:lnTo>
                  <a:pt x="0" y="20807"/>
                </a:lnTo>
                <a:cubicBezTo>
                  <a:pt x="0" y="21245"/>
                  <a:pt x="510" y="21600"/>
                  <a:pt x="1139" y="21600"/>
                </a:cubicBezTo>
                <a:lnTo>
                  <a:pt x="20461" y="21600"/>
                </a:lnTo>
                <a:cubicBezTo>
                  <a:pt x="21090" y="21600"/>
                  <a:pt x="21600" y="21245"/>
                  <a:pt x="21600" y="20807"/>
                </a:cubicBezTo>
                <a:lnTo>
                  <a:pt x="21600" y="3587"/>
                </a:lnTo>
                <a:cubicBezTo>
                  <a:pt x="21600" y="3149"/>
                  <a:pt x="21090" y="2794"/>
                  <a:pt x="20461" y="2794"/>
                </a:cubicBezTo>
                <a:lnTo>
                  <a:pt x="17292" y="2794"/>
                </a:lnTo>
                <a:cubicBezTo>
                  <a:pt x="17047" y="2318"/>
                  <a:pt x="16496" y="2016"/>
                  <a:pt x="15563" y="1943"/>
                </a:cubicBezTo>
                <a:cubicBezTo>
                  <a:pt x="15301" y="1922"/>
                  <a:pt x="14774" y="1943"/>
                  <a:pt x="14511" y="1943"/>
                </a:cubicBezTo>
                <a:cubicBezTo>
                  <a:pt x="13949" y="1943"/>
                  <a:pt x="13209" y="1511"/>
                  <a:pt x="12738" y="898"/>
                </a:cubicBezTo>
                <a:cubicBezTo>
                  <a:pt x="12273" y="294"/>
                  <a:pt x="11802" y="0"/>
                  <a:pt x="10801" y="0"/>
                </a:cubicBezTo>
                <a:close/>
                <a:moveTo>
                  <a:pt x="10799" y="593"/>
                </a:moveTo>
                <a:cubicBezTo>
                  <a:pt x="11264" y="593"/>
                  <a:pt x="11644" y="857"/>
                  <a:pt x="11644" y="1181"/>
                </a:cubicBezTo>
                <a:cubicBezTo>
                  <a:pt x="11644" y="1506"/>
                  <a:pt x="11265" y="1767"/>
                  <a:pt x="10799" y="1767"/>
                </a:cubicBezTo>
                <a:cubicBezTo>
                  <a:pt x="10332" y="1767"/>
                  <a:pt x="9956" y="1506"/>
                  <a:pt x="9956" y="1181"/>
                </a:cubicBezTo>
                <a:cubicBezTo>
                  <a:pt x="9956" y="857"/>
                  <a:pt x="10333" y="593"/>
                  <a:pt x="10799" y="593"/>
                </a:cubicBezTo>
                <a:close/>
                <a:moveTo>
                  <a:pt x="1619" y="3923"/>
                </a:moveTo>
                <a:lnTo>
                  <a:pt x="4207" y="3923"/>
                </a:lnTo>
                <a:cubicBezTo>
                  <a:pt x="4263" y="4130"/>
                  <a:pt x="4364" y="4392"/>
                  <a:pt x="4364" y="4392"/>
                </a:cubicBezTo>
                <a:lnTo>
                  <a:pt x="10799" y="4392"/>
                </a:lnTo>
                <a:lnTo>
                  <a:pt x="17236" y="4392"/>
                </a:lnTo>
                <a:cubicBezTo>
                  <a:pt x="17236" y="4392"/>
                  <a:pt x="17337" y="4130"/>
                  <a:pt x="17393" y="3923"/>
                </a:cubicBezTo>
                <a:lnTo>
                  <a:pt x="19981" y="3923"/>
                </a:lnTo>
                <a:lnTo>
                  <a:pt x="19981" y="20471"/>
                </a:lnTo>
                <a:lnTo>
                  <a:pt x="1619" y="20471"/>
                </a:lnTo>
                <a:lnTo>
                  <a:pt x="1619" y="3923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1" name="PROJECT  METRICS"/>
          <p:cNvSpPr txBox="1"/>
          <p:nvPr/>
        </p:nvSpPr>
        <p:spPr>
          <a:xfrm>
            <a:off x="20594795" y="696882"/>
            <a:ext cx="2568041" cy="911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lnSpc>
                <a:spcPct val="120000"/>
              </a:lnSpc>
              <a:defRPr sz="2500" spc="249">
                <a:solidFill>
                  <a:schemeClr val="accent6">
                    <a:hueOff val="-133706"/>
                    <a:satOff val="8281"/>
                    <a:lumOff val="-27269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t>PROJECT  METRICS</a:t>
            </a:r>
          </a:p>
        </p:txBody>
      </p:sp>
      <p:sp>
        <p:nvSpPr>
          <p:cNvPr id="332" name="Rectangle"/>
          <p:cNvSpPr/>
          <p:nvPr/>
        </p:nvSpPr>
        <p:spPr>
          <a:xfrm>
            <a:off x="16439341" y="4579502"/>
            <a:ext cx="1984202" cy="712624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3" name="Rectangle"/>
          <p:cNvSpPr/>
          <p:nvPr/>
        </p:nvSpPr>
        <p:spPr>
          <a:xfrm>
            <a:off x="16449172" y="3917643"/>
            <a:ext cx="1964540" cy="712623"/>
          </a:xfrm>
          <a:prstGeom prst="rect">
            <a:avLst/>
          </a:prstGeom>
          <a:solidFill>
            <a:srgbClr val="CA555B"/>
          </a:solidFill>
          <a:ln w="12700">
            <a:miter lim="400000"/>
          </a:ln>
          <a:effectLst>
            <a:outerShdw blurRad="88900" dist="70253" dir="5400000" rotWithShape="0">
              <a:schemeClr val="accent6">
                <a:hueOff val="-133706"/>
                <a:satOff val="8281"/>
                <a:lumOff val="-27269"/>
                <a:alpha val="16449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4" name="END DATE"/>
          <p:cNvSpPr txBox="1"/>
          <p:nvPr/>
        </p:nvSpPr>
        <p:spPr>
          <a:xfrm>
            <a:off x="16420795" y="4083454"/>
            <a:ext cx="198420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30000"/>
              </a:lnSpc>
              <a:defRPr sz="18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END DATE</a:t>
            </a:r>
          </a:p>
        </p:txBody>
      </p:sp>
      <p:sp>
        <p:nvSpPr>
          <p:cNvPr id="335" name="XYZ MONTH"/>
          <p:cNvSpPr txBox="1"/>
          <p:nvPr/>
        </p:nvSpPr>
        <p:spPr>
          <a:xfrm>
            <a:off x="16497758" y="4769357"/>
            <a:ext cx="1867369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 b="1" spc="126">
                <a:solidFill>
                  <a:schemeClr val="accent6">
                    <a:satOff val="1848"/>
                    <a:lumOff val="-15262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dirty="0"/>
              <a:t>01 Oct 2021</a:t>
            </a:r>
            <a:endParaRPr dirty="0"/>
          </a:p>
        </p:txBody>
      </p:sp>
      <p:sp>
        <p:nvSpPr>
          <p:cNvPr id="54" name="Line">
            <a:extLst>
              <a:ext uri="{FF2B5EF4-FFF2-40B4-BE49-F238E27FC236}">
                <a16:creationId xmlns:a16="http://schemas.microsoft.com/office/drawing/2014/main" id="{2D5020E8-B021-4F9C-94AA-49440086417E}"/>
              </a:ext>
            </a:extLst>
          </p:cNvPr>
          <p:cNvSpPr/>
          <p:nvPr/>
        </p:nvSpPr>
        <p:spPr>
          <a:xfrm flipV="1">
            <a:off x="21255006" y="4772229"/>
            <a:ext cx="1" cy="3229395"/>
          </a:xfrm>
          <a:prstGeom prst="line">
            <a:avLst/>
          </a:prstGeom>
          <a:ln w="12700">
            <a:solidFill>
              <a:srgbClr val="5A5F5E"/>
            </a:solidFill>
            <a:custDash>
              <a:ds d="600000" sp="600000"/>
            </a:custDash>
            <a:miter lim="400000"/>
          </a:ln>
        </p:spPr>
        <p:txBody>
          <a:bodyPr lIns="50800" tIns="50800" rIns="50800" bIns="50800" anchor="ctr"/>
          <a:lstStyle/>
          <a:p>
            <a:endParaRPr/>
          </a:p>
        </p:txBody>
      </p:sp>
      <p:sp>
        <p:nvSpPr>
          <p:cNvPr id="55" name="Oval">
            <a:extLst>
              <a:ext uri="{FF2B5EF4-FFF2-40B4-BE49-F238E27FC236}">
                <a16:creationId xmlns:a16="http://schemas.microsoft.com/office/drawing/2014/main" id="{BEF62F36-FE2A-4DBA-845E-0D8F56B24896}"/>
              </a:ext>
            </a:extLst>
          </p:cNvPr>
          <p:cNvSpPr/>
          <p:nvPr/>
        </p:nvSpPr>
        <p:spPr>
          <a:xfrm>
            <a:off x="21120294" y="4688914"/>
            <a:ext cx="269426" cy="295412"/>
          </a:xfrm>
          <a:prstGeom prst="ellipse">
            <a:avLst/>
          </a:prstGeom>
          <a:solidFill>
            <a:schemeClr val="accent6">
              <a:satOff val="1848"/>
              <a:lumOff val="-15262"/>
              <a:alpha val="91786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6" name="Rectangle">
            <a:extLst>
              <a:ext uri="{FF2B5EF4-FFF2-40B4-BE49-F238E27FC236}">
                <a16:creationId xmlns:a16="http://schemas.microsoft.com/office/drawing/2014/main" id="{371697FD-771A-417C-94C4-2F41EBC3C640}"/>
              </a:ext>
            </a:extLst>
          </p:cNvPr>
          <p:cNvSpPr/>
          <p:nvPr/>
        </p:nvSpPr>
        <p:spPr>
          <a:xfrm>
            <a:off x="19496608" y="8682144"/>
            <a:ext cx="3611032" cy="3408245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 marL="61722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Deployment of final model </a:t>
            </a:r>
          </a:p>
          <a:p>
            <a:pPr marL="61722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340053"/>
                </a:solidFill>
                <a:latin typeface="Gill Sans Light"/>
              </a:rPr>
              <a:t>Continued testing and maintenance for agreed months </a:t>
            </a:r>
          </a:p>
          <a:p>
            <a:pPr marL="274320" marR="0" lvl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>
                <a:solidFill>
                  <a:srgbClr val="FFFFFF"/>
                </a:solidFill>
              </a:defRPr>
            </a:pPr>
            <a:endParaRPr lang="en-US" sz="2400" dirty="0">
              <a:solidFill>
                <a:srgbClr val="340053"/>
              </a:solidFill>
              <a:latin typeface="Gill Sans Light"/>
            </a:endParaRPr>
          </a:p>
          <a:p>
            <a:pPr marL="617220" marR="0" lvl="0" indent="-34290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40053"/>
              </a:solidFill>
              <a:effectLst/>
              <a:uLnTx/>
              <a:uFillTx/>
              <a:latin typeface="Gill Sans Light"/>
              <a:sym typeface="Gill Sans Light"/>
            </a:endParaRPr>
          </a:p>
          <a:p>
            <a:pPr marL="274320" marR="0" lvl="0" algn="l" defTabSz="8255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>
                <a:solidFill>
                  <a:srgbClr val="FFFFFF"/>
                </a:solidFill>
              </a:defRPr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40053"/>
              </a:solidFill>
              <a:effectLst/>
              <a:uLnTx/>
              <a:uFillTx/>
              <a:latin typeface="Gill Sans Light"/>
              <a:sym typeface="Gill Sans Light"/>
            </a:endParaRPr>
          </a:p>
        </p:txBody>
      </p:sp>
      <p:sp>
        <p:nvSpPr>
          <p:cNvPr id="57" name="Rectangle">
            <a:extLst>
              <a:ext uri="{FF2B5EF4-FFF2-40B4-BE49-F238E27FC236}">
                <a16:creationId xmlns:a16="http://schemas.microsoft.com/office/drawing/2014/main" id="{06227223-07D9-4748-9BE0-EF32961B61F5}"/>
              </a:ext>
            </a:extLst>
          </p:cNvPr>
          <p:cNvSpPr/>
          <p:nvPr/>
        </p:nvSpPr>
        <p:spPr>
          <a:xfrm>
            <a:off x="19516268" y="8020052"/>
            <a:ext cx="3558259" cy="712624"/>
          </a:xfrm>
          <a:prstGeom prst="rect">
            <a:avLst/>
          </a:prstGeom>
          <a:solidFill>
            <a:srgbClr val="3177B7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8" name="MILESTONE 2">
            <a:extLst>
              <a:ext uri="{FF2B5EF4-FFF2-40B4-BE49-F238E27FC236}">
                <a16:creationId xmlns:a16="http://schemas.microsoft.com/office/drawing/2014/main" id="{206C4F41-6E90-427C-81C5-64DC480B9C38}"/>
              </a:ext>
            </a:extLst>
          </p:cNvPr>
          <p:cNvSpPr txBox="1"/>
          <p:nvPr/>
        </p:nvSpPr>
        <p:spPr>
          <a:xfrm>
            <a:off x="19892403" y="8101000"/>
            <a:ext cx="2760496" cy="550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30000"/>
              </a:lnSpc>
              <a:defRPr sz="25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dirty="0"/>
              <a:t>MILESTONE </a:t>
            </a:r>
            <a:r>
              <a:rPr lang="en-US" dirty="0"/>
              <a:t>5</a:t>
            </a:r>
            <a:endParaRPr dirty="0"/>
          </a:p>
        </p:txBody>
      </p:sp>
      <p:sp>
        <p:nvSpPr>
          <p:cNvPr id="59" name="100%">
            <a:extLst>
              <a:ext uri="{FF2B5EF4-FFF2-40B4-BE49-F238E27FC236}">
                <a16:creationId xmlns:a16="http://schemas.microsoft.com/office/drawing/2014/main" id="{EA88724C-A227-46A2-A89E-2B0C8DBD5C6E}"/>
              </a:ext>
            </a:extLst>
          </p:cNvPr>
          <p:cNvSpPr/>
          <p:nvPr/>
        </p:nvSpPr>
        <p:spPr>
          <a:xfrm>
            <a:off x="20708339" y="6078951"/>
            <a:ext cx="1151163" cy="1167155"/>
          </a:xfrm>
          <a:prstGeom prst="ellipse">
            <a:avLst/>
          </a:prstGeom>
          <a:solidFill>
            <a:srgbClr val="3177B7">
              <a:alpha val="91786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>
              <a:defRPr sz="2500">
                <a:solidFill>
                  <a:srgbClr val="FFFFFF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rPr lang="en-US" dirty="0"/>
              <a:t>100</a:t>
            </a:r>
            <a:r>
              <a:rPr dirty="0"/>
              <a:t>%</a:t>
            </a:r>
          </a:p>
        </p:txBody>
      </p:sp>
      <p:sp>
        <p:nvSpPr>
          <p:cNvPr id="60" name="Rectangle">
            <a:extLst>
              <a:ext uri="{FF2B5EF4-FFF2-40B4-BE49-F238E27FC236}">
                <a16:creationId xmlns:a16="http://schemas.microsoft.com/office/drawing/2014/main" id="{F3A06686-DD9B-4B10-808E-2C74DF356141}"/>
              </a:ext>
            </a:extLst>
          </p:cNvPr>
          <p:cNvSpPr/>
          <p:nvPr/>
        </p:nvSpPr>
        <p:spPr>
          <a:xfrm>
            <a:off x="20346826" y="4579502"/>
            <a:ext cx="1984202" cy="712624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1" name="Rectangle">
            <a:extLst>
              <a:ext uri="{FF2B5EF4-FFF2-40B4-BE49-F238E27FC236}">
                <a16:creationId xmlns:a16="http://schemas.microsoft.com/office/drawing/2014/main" id="{B8A1D4FA-2659-49D8-A66C-E3B77ED7ADC8}"/>
              </a:ext>
            </a:extLst>
          </p:cNvPr>
          <p:cNvSpPr/>
          <p:nvPr/>
        </p:nvSpPr>
        <p:spPr>
          <a:xfrm>
            <a:off x="20356657" y="3917643"/>
            <a:ext cx="1964540" cy="712623"/>
          </a:xfrm>
          <a:prstGeom prst="rect">
            <a:avLst/>
          </a:prstGeom>
          <a:solidFill>
            <a:srgbClr val="CA555B"/>
          </a:solidFill>
          <a:ln w="12700">
            <a:miter lim="400000"/>
          </a:ln>
          <a:effectLst>
            <a:outerShdw blurRad="88900" dist="70253" dir="5400000" rotWithShape="0">
              <a:schemeClr val="accent6">
                <a:hueOff val="-133706"/>
                <a:satOff val="8281"/>
                <a:lumOff val="-27269"/>
                <a:alpha val="16449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62" name="END DATE">
            <a:extLst>
              <a:ext uri="{FF2B5EF4-FFF2-40B4-BE49-F238E27FC236}">
                <a16:creationId xmlns:a16="http://schemas.microsoft.com/office/drawing/2014/main" id="{360516D0-C8D4-4EB6-848E-B27B59F4E1B4}"/>
              </a:ext>
            </a:extLst>
          </p:cNvPr>
          <p:cNvSpPr txBox="1"/>
          <p:nvPr/>
        </p:nvSpPr>
        <p:spPr>
          <a:xfrm>
            <a:off x="20328280" y="4083454"/>
            <a:ext cx="198420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30000"/>
              </a:lnSpc>
              <a:defRPr sz="1800" b="1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END DATE</a:t>
            </a:r>
          </a:p>
        </p:txBody>
      </p:sp>
      <p:sp>
        <p:nvSpPr>
          <p:cNvPr id="63" name="XYZ MONTH">
            <a:extLst>
              <a:ext uri="{FF2B5EF4-FFF2-40B4-BE49-F238E27FC236}">
                <a16:creationId xmlns:a16="http://schemas.microsoft.com/office/drawing/2014/main" id="{E2F80B6F-5578-4A32-96F2-F351934854E9}"/>
              </a:ext>
            </a:extLst>
          </p:cNvPr>
          <p:cNvSpPr txBox="1"/>
          <p:nvPr/>
        </p:nvSpPr>
        <p:spPr>
          <a:xfrm>
            <a:off x="20405243" y="4769357"/>
            <a:ext cx="1867369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defRPr sz="1800" b="1" spc="126">
                <a:solidFill>
                  <a:schemeClr val="accent6">
                    <a:satOff val="1848"/>
                    <a:lumOff val="-15262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rPr lang="en-US" dirty="0"/>
              <a:t>15 Oct 2021</a:t>
            </a:r>
            <a:endParaRPr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34389C0E-06CC-44CA-9917-D53E705EB538}"/>
              </a:ext>
            </a:extLst>
          </p:cNvPr>
          <p:cNvPicPr/>
          <p:nvPr/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20" y="690464"/>
            <a:ext cx="975701" cy="816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"/>
          <p:cNvSpPr/>
          <p:nvPr/>
        </p:nvSpPr>
        <p:spPr>
          <a:xfrm>
            <a:off x="18414440" y="344397"/>
            <a:ext cx="5539781" cy="1517452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8" name="Rectangle"/>
          <p:cNvSpPr/>
          <p:nvPr/>
        </p:nvSpPr>
        <p:spPr>
          <a:xfrm>
            <a:off x="23689901" y="309741"/>
            <a:ext cx="264320" cy="1552108"/>
          </a:xfrm>
          <a:prstGeom prst="rect">
            <a:avLst/>
          </a:prstGeom>
          <a:solidFill>
            <a:srgbClr val="DA8341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39" name="Shape"/>
          <p:cNvSpPr/>
          <p:nvPr/>
        </p:nvSpPr>
        <p:spPr>
          <a:xfrm flipH="1">
            <a:off x="16681525" y="327068"/>
            <a:ext cx="1586230" cy="1552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0" h="21385" extrusionOk="0">
                <a:moveTo>
                  <a:pt x="0" y="14"/>
                </a:moveTo>
                <a:lnTo>
                  <a:pt x="0" y="21385"/>
                </a:lnTo>
                <a:lnTo>
                  <a:pt x="21192" y="21385"/>
                </a:lnTo>
                <a:cubicBezTo>
                  <a:pt x="21600" y="16103"/>
                  <a:pt x="19825" y="10882"/>
                  <a:pt x="16262" y="6883"/>
                </a:cubicBezTo>
                <a:cubicBezTo>
                  <a:pt x="12188" y="2311"/>
                  <a:pt x="6208" y="-215"/>
                  <a:pt x="0" y="14"/>
                </a:cubicBezTo>
                <a:close/>
              </a:path>
            </a:pathLst>
          </a:custGeom>
          <a:solidFill>
            <a:srgbClr val="F0B85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0" name="Shape"/>
          <p:cNvSpPr/>
          <p:nvPr/>
        </p:nvSpPr>
        <p:spPr>
          <a:xfrm rot="10800000" flipH="1">
            <a:off x="18256325" y="327068"/>
            <a:ext cx="1586230" cy="1552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50" h="21385" extrusionOk="0">
                <a:moveTo>
                  <a:pt x="0" y="14"/>
                </a:moveTo>
                <a:lnTo>
                  <a:pt x="0" y="21385"/>
                </a:lnTo>
                <a:lnTo>
                  <a:pt x="21192" y="21385"/>
                </a:lnTo>
                <a:cubicBezTo>
                  <a:pt x="21600" y="16103"/>
                  <a:pt x="19825" y="10882"/>
                  <a:pt x="16262" y="6883"/>
                </a:cubicBezTo>
                <a:cubicBezTo>
                  <a:pt x="12188" y="2311"/>
                  <a:pt x="6208" y="-215"/>
                  <a:pt x="0" y="14"/>
                </a:cubicBezTo>
                <a:close/>
              </a:path>
            </a:pathLst>
          </a:custGeom>
          <a:solidFill>
            <a:srgbClr val="DA8341"/>
          </a:solidFill>
          <a:ln w="12700"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1" name="VALIDATION METRIC"/>
          <p:cNvSpPr txBox="1"/>
          <p:nvPr/>
        </p:nvSpPr>
        <p:spPr>
          <a:xfrm>
            <a:off x="20737765" y="723891"/>
            <a:ext cx="2420462" cy="911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>
              <a:lnSpc>
                <a:spcPct val="120000"/>
              </a:lnSpc>
              <a:defRPr sz="2500" spc="249">
                <a:solidFill>
                  <a:schemeClr val="accent6">
                    <a:hueOff val="-133706"/>
                    <a:satOff val="8281"/>
                    <a:lumOff val="-27269"/>
                  </a:schemeClr>
                </a:solidFill>
                <a:latin typeface="Gill Sans"/>
                <a:ea typeface="Gill Sans"/>
                <a:cs typeface="Gill Sans"/>
                <a:sym typeface="Gill Sans"/>
              </a:defRPr>
            </a:lvl1pPr>
          </a:lstStyle>
          <a:p>
            <a:r>
              <a:t>VALIDATION METRIC</a:t>
            </a:r>
          </a:p>
        </p:txBody>
      </p:sp>
      <p:sp>
        <p:nvSpPr>
          <p:cNvPr id="342" name="5"/>
          <p:cNvSpPr txBox="1"/>
          <p:nvPr/>
        </p:nvSpPr>
        <p:spPr>
          <a:xfrm>
            <a:off x="18664299" y="571446"/>
            <a:ext cx="530958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lnSpc>
                <a:spcPct val="90000"/>
              </a:lnSpc>
              <a:defRPr spc="499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5</a:t>
            </a:r>
          </a:p>
        </p:txBody>
      </p:sp>
      <p:sp>
        <p:nvSpPr>
          <p:cNvPr id="343" name="Rectangle"/>
          <p:cNvSpPr/>
          <p:nvPr/>
        </p:nvSpPr>
        <p:spPr>
          <a:xfrm>
            <a:off x="6089383" y="3686181"/>
            <a:ext cx="16967733" cy="6869474"/>
          </a:xfrm>
          <a:prstGeom prst="rect">
            <a:avLst/>
          </a:prstGeom>
          <a:solidFill>
            <a:srgbClr val="FEFEFE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 marL="617220" marR="0" lvl="0" indent="-34290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Objective of this project is to validate and show all user’s loans details at one place as well as improving efficiency of the system.</a:t>
            </a:r>
          </a:p>
          <a:p>
            <a:pPr marL="274320" marR="0" lvl="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>
                <a:solidFill>
                  <a:srgbClr val="FFFFFF"/>
                </a:solidFill>
              </a:defRPr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40053"/>
              </a:solidFill>
              <a:effectLst/>
              <a:uLnTx/>
              <a:uFillTx/>
              <a:latin typeface="Gill Sans Light"/>
              <a:sym typeface="Gill Sans Light"/>
            </a:endParaRPr>
          </a:p>
          <a:p>
            <a:pPr marL="617220" marR="0" lvl="0" indent="-34290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lang="en-US" sz="2400" dirty="0">
                <a:solidFill>
                  <a:srgbClr val="340053"/>
                </a:solidFill>
                <a:latin typeface="Gill Sans Light"/>
              </a:rPr>
              <a:t>Validation ratio can be obtained by calculating the total requests processed within the stipulated time frame to judge efficiency of the product with respect to previous efficiency</a:t>
            </a:r>
          </a:p>
          <a:p>
            <a:pPr marL="274320" marR="0" lvl="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>
                <a:solidFill>
                  <a:srgbClr val="FFFFFF"/>
                </a:solidFill>
              </a:defRPr>
            </a:pPr>
            <a:endParaRPr lang="en-US" sz="2400" dirty="0">
              <a:solidFill>
                <a:srgbClr val="340053"/>
              </a:solidFill>
              <a:latin typeface="Gill Sans Light"/>
            </a:endParaRPr>
          </a:p>
          <a:p>
            <a:pPr marL="617220" marR="0" lvl="0" indent="-34290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Another validation metric is the feedback from </a:t>
            </a:r>
            <a:r>
              <a:rPr lang="en-US" sz="2400" dirty="0">
                <a:solidFill>
                  <a:srgbClr val="340053"/>
                </a:solidFill>
                <a:latin typeface="Gill Sans Light"/>
              </a:rPr>
              <a:t>customers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 on correctly identified </a:t>
            </a:r>
            <a:r>
              <a:rPr lang="en-US" sz="2400" dirty="0">
                <a:solidFill>
                  <a:srgbClr val="340053"/>
                </a:solidFill>
                <a:latin typeface="Gill Sans Light"/>
              </a:rPr>
              <a:t>loans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340053"/>
                </a:solidFill>
                <a:effectLst/>
                <a:uLnTx/>
                <a:uFillTx/>
                <a:latin typeface="Gill Sans Light"/>
                <a:sym typeface="Gill Sans Light"/>
              </a:rPr>
              <a:t> to test the accuracy of the product</a:t>
            </a:r>
          </a:p>
          <a:p>
            <a:pPr marL="617220" marR="0" lvl="0" indent="-342900" algn="l" defTabSz="825500" rtl="0" eaLnBrk="1" fontAlgn="auto" latinLnBrk="0" hangingPunc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FFFFFF"/>
                </a:solidFill>
              </a:defRPr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rgbClr val="340053"/>
              </a:solidFill>
              <a:effectLst/>
              <a:uLnTx/>
              <a:uFillTx/>
              <a:latin typeface="Gill Sans Light"/>
              <a:sym typeface="Gill Sans Light"/>
            </a:endParaRPr>
          </a:p>
        </p:txBody>
      </p:sp>
      <p:sp>
        <p:nvSpPr>
          <p:cNvPr id="344" name="Rectangle"/>
          <p:cNvSpPr/>
          <p:nvPr/>
        </p:nvSpPr>
        <p:spPr>
          <a:xfrm>
            <a:off x="4752356" y="3683670"/>
            <a:ext cx="1352752" cy="6874496"/>
          </a:xfrm>
          <a:prstGeom prst="rect">
            <a:avLst/>
          </a:prstGeom>
          <a:solidFill>
            <a:srgbClr val="F1B85D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5" name="VALIDATION METRIC"/>
          <p:cNvSpPr txBox="1"/>
          <p:nvPr/>
        </p:nvSpPr>
        <p:spPr>
          <a:xfrm rot="16200000">
            <a:off x="2658785" y="6803418"/>
            <a:ext cx="5539894" cy="63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130000"/>
              </a:lnSpc>
              <a:defRPr sz="3500" b="1" spc="350">
                <a:solidFill>
                  <a:schemeClr val="accent6">
                    <a:hueOff val="-133706"/>
                    <a:satOff val="8281"/>
                    <a:lumOff val="-27269"/>
                  </a:schemeClr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r>
              <a:t>VALIDATION METRIC</a:t>
            </a:r>
          </a:p>
        </p:txBody>
      </p:sp>
      <p:sp>
        <p:nvSpPr>
          <p:cNvPr id="346" name="Dingbat Tick"/>
          <p:cNvSpPr/>
          <p:nvPr/>
        </p:nvSpPr>
        <p:spPr>
          <a:xfrm>
            <a:off x="17290719" y="878113"/>
            <a:ext cx="635001" cy="603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2" h="20404" extrusionOk="0">
                <a:moveTo>
                  <a:pt x="19340" y="6"/>
                </a:moveTo>
                <a:cubicBezTo>
                  <a:pt x="18911" y="-308"/>
                  <a:pt x="8317" y="11620"/>
                  <a:pt x="6423" y="13985"/>
                </a:cubicBezTo>
                <a:cubicBezTo>
                  <a:pt x="6323" y="14108"/>
                  <a:pt x="6215" y="14226"/>
                  <a:pt x="6090" y="14370"/>
                </a:cubicBezTo>
                <a:cubicBezTo>
                  <a:pt x="5960" y="14216"/>
                  <a:pt x="5854" y="14096"/>
                  <a:pt x="5755" y="13971"/>
                </a:cubicBezTo>
                <a:cubicBezTo>
                  <a:pt x="4964" y="12967"/>
                  <a:pt x="4458" y="12167"/>
                  <a:pt x="3657" y="11171"/>
                </a:cubicBezTo>
                <a:cubicBezTo>
                  <a:pt x="3337" y="10773"/>
                  <a:pt x="2972" y="10410"/>
                  <a:pt x="2634" y="10026"/>
                </a:cubicBezTo>
                <a:cubicBezTo>
                  <a:pt x="2472" y="9843"/>
                  <a:pt x="2283" y="9849"/>
                  <a:pt x="2071" y="9915"/>
                </a:cubicBezTo>
                <a:cubicBezTo>
                  <a:pt x="1856" y="9981"/>
                  <a:pt x="1574" y="9982"/>
                  <a:pt x="1303" y="10152"/>
                </a:cubicBezTo>
                <a:cubicBezTo>
                  <a:pt x="1209" y="10262"/>
                  <a:pt x="1332" y="10438"/>
                  <a:pt x="1349" y="10609"/>
                </a:cubicBezTo>
                <a:cubicBezTo>
                  <a:pt x="1369" y="10821"/>
                  <a:pt x="603" y="10792"/>
                  <a:pt x="203" y="11061"/>
                </a:cubicBezTo>
                <a:cubicBezTo>
                  <a:pt x="111" y="11123"/>
                  <a:pt x="286" y="11375"/>
                  <a:pt x="227" y="11440"/>
                </a:cubicBezTo>
                <a:cubicBezTo>
                  <a:pt x="51" y="11634"/>
                  <a:pt x="-61" y="11588"/>
                  <a:pt x="36" y="11826"/>
                </a:cubicBezTo>
                <a:cubicBezTo>
                  <a:pt x="896" y="13941"/>
                  <a:pt x="2182" y="15733"/>
                  <a:pt x="3218" y="17879"/>
                </a:cubicBezTo>
                <a:cubicBezTo>
                  <a:pt x="4865" y="21292"/>
                  <a:pt x="5178" y="19166"/>
                  <a:pt x="5654" y="19575"/>
                </a:cubicBezTo>
                <a:cubicBezTo>
                  <a:pt x="7119" y="20836"/>
                  <a:pt x="6474" y="21179"/>
                  <a:pt x="9921" y="16770"/>
                </a:cubicBezTo>
                <a:cubicBezTo>
                  <a:pt x="11378" y="14721"/>
                  <a:pt x="19009" y="5203"/>
                  <a:pt x="20710" y="3334"/>
                </a:cubicBezTo>
                <a:cubicBezTo>
                  <a:pt x="20919" y="3106"/>
                  <a:pt x="21118" y="2879"/>
                  <a:pt x="21258" y="2594"/>
                </a:cubicBezTo>
                <a:cubicBezTo>
                  <a:pt x="21526" y="2050"/>
                  <a:pt x="21539" y="2066"/>
                  <a:pt x="21150" y="1624"/>
                </a:cubicBezTo>
                <a:cubicBezTo>
                  <a:pt x="21006" y="1461"/>
                  <a:pt x="20856" y="1427"/>
                  <a:pt x="20646" y="1437"/>
                </a:cubicBezTo>
                <a:cubicBezTo>
                  <a:pt x="20244" y="1456"/>
                  <a:pt x="20044" y="1227"/>
                  <a:pt x="20086" y="860"/>
                </a:cubicBezTo>
                <a:cubicBezTo>
                  <a:pt x="20096" y="778"/>
                  <a:pt x="20075" y="672"/>
                  <a:pt x="20023" y="612"/>
                </a:cubicBezTo>
                <a:cubicBezTo>
                  <a:pt x="19903" y="469"/>
                  <a:pt x="19492" y="117"/>
                  <a:pt x="19340" y="6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7" name="Rectangle"/>
          <p:cNvSpPr/>
          <p:nvPr/>
        </p:nvSpPr>
        <p:spPr>
          <a:xfrm>
            <a:off x="-38009" y="-86877"/>
            <a:ext cx="2117721" cy="13789810"/>
          </a:xfrm>
          <a:prstGeom prst="rect">
            <a:avLst/>
          </a:prstGeom>
          <a:gradFill>
            <a:gsLst>
              <a:gs pos="0">
                <a:srgbClr val="2BAFC7"/>
              </a:gs>
              <a:gs pos="100000">
                <a:srgbClr val="3476A6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48" name="AIFL - PROJECT"/>
          <p:cNvSpPr txBox="1"/>
          <p:nvPr/>
        </p:nvSpPr>
        <p:spPr>
          <a:xfrm rot="16200000">
            <a:off x="-4175015" y="7034049"/>
            <a:ext cx="10391733" cy="114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ct val="90000"/>
              </a:lnSpc>
              <a:defRPr sz="7500" spc="525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r>
              <a:rPr lang="en-US" dirty="0"/>
              <a:t>TRINADE</a:t>
            </a:r>
            <a:r>
              <a:rPr dirty="0"/>
              <a:t> - PROJECT</a:t>
            </a:r>
          </a:p>
        </p:txBody>
      </p:sp>
      <p:sp>
        <p:nvSpPr>
          <p:cNvPr id="349" name="Paint Splatter"/>
          <p:cNvSpPr/>
          <p:nvPr/>
        </p:nvSpPr>
        <p:spPr>
          <a:xfrm>
            <a:off x="96908" y="226321"/>
            <a:ext cx="1847887" cy="1825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65" h="21541" extrusionOk="0">
                <a:moveTo>
                  <a:pt x="18778" y="6"/>
                </a:moveTo>
                <a:cubicBezTo>
                  <a:pt x="17680" y="134"/>
                  <a:pt x="17057" y="2145"/>
                  <a:pt x="17057" y="2145"/>
                </a:cubicBezTo>
                <a:cubicBezTo>
                  <a:pt x="16852" y="3359"/>
                  <a:pt x="15985" y="3890"/>
                  <a:pt x="15481" y="4101"/>
                </a:cubicBezTo>
                <a:cubicBezTo>
                  <a:pt x="14194" y="4297"/>
                  <a:pt x="13397" y="3507"/>
                  <a:pt x="13053" y="1869"/>
                </a:cubicBezTo>
                <a:cubicBezTo>
                  <a:pt x="12537" y="2880"/>
                  <a:pt x="11654" y="3375"/>
                  <a:pt x="10752" y="3375"/>
                </a:cubicBezTo>
                <a:cubicBezTo>
                  <a:pt x="10038" y="3375"/>
                  <a:pt x="9410" y="2981"/>
                  <a:pt x="9042" y="2385"/>
                </a:cubicBezTo>
                <a:cubicBezTo>
                  <a:pt x="9027" y="2364"/>
                  <a:pt x="9047" y="2392"/>
                  <a:pt x="9027" y="2365"/>
                </a:cubicBezTo>
                <a:cubicBezTo>
                  <a:pt x="8712" y="1939"/>
                  <a:pt x="8495" y="1267"/>
                  <a:pt x="8495" y="1267"/>
                </a:cubicBezTo>
                <a:cubicBezTo>
                  <a:pt x="8387" y="975"/>
                  <a:pt x="8079" y="832"/>
                  <a:pt x="7808" y="949"/>
                </a:cubicBezTo>
                <a:cubicBezTo>
                  <a:pt x="7536" y="1065"/>
                  <a:pt x="7403" y="1396"/>
                  <a:pt x="7512" y="1688"/>
                </a:cubicBezTo>
                <a:cubicBezTo>
                  <a:pt x="7512" y="1688"/>
                  <a:pt x="8063" y="2709"/>
                  <a:pt x="7926" y="3310"/>
                </a:cubicBezTo>
                <a:cubicBezTo>
                  <a:pt x="7837" y="3703"/>
                  <a:pt x="7904" y="4946"/>
                  <a:pt x="6218" y="5135"/>
                </a:cubicBezTo>
                <a:cubicBezTo>
                  <a:pt x="5752" y="5188"/>
                  <a:pt x="5327" y="4932"/>
                  <a:pt x="5018" y="4604"/>
                </a:cubicBezTo>
                <a:cubicBezTo>
                  <a:pt x="5009" y="4602"/>
                  <a:pt x="5000" y="4602"/>
                  <a:pt x="4991" y="4600"/>
                </a:cubicBezTo>
                <a:cubicBezTo>
                  <a:pt x="5214" y="6253"/>
                  <a:pt x="4846" y="7549"/>
                  <a:pt x="3835" y="8175"/>
                </a:cubicBezTo>
                <a:cubicBezTo>
                  <a:pt x="3057" y="8564"/>
                  <a:pt x="1662" y="8170"/>
                  <a:pt x="1662" y="8170"/>
                </a:cubicBezTo>
                <a:cubicBezTo>
                  <a:pt x="1662" y="8170"/>
                  <a:pt x="3252" y="9037"/>
                  <a:pt x="3447" y="9405"/>
                </a:cubicBezTo>
                <a:cubicBezTo>
                  <a:pt x="3642" y="9774"/>
                  <a:pt x="3739" y="10487"/>
                  <a:pt x="3611" y="11024"/>
                </a:cubicBezTo>
                <a:cubicBezTo>
                  <a:pt x="3469" y="11466"/>
                  <a:pt x="3110" y="11975"/>
                  <a:pt x="2194" y="11735"/>
                </a:cubicBezTo>
                <a:cubicBezTo>
                  <a:pt x="2194" y="11735"/>
                  <a:pt x="-293" y="11137"/>
                  <a:pt x="29" y="13686"/>
                </a:cubicBezTo>
                <a:cubicBezTo>
                  <a:pt x="29" y="13686"/>
                  <a:pt x="572" y="16056"/>
                  <a:pt x="2540" y="14422"/>
                </a:cubicBezTo>
                <a:cubicBezTo>
                  <a:pt x="3229" y="13850"/>
                  <a:pt x="3466" y="13680"/>
                  <a:pt x="3758" y="13817"/>
                </a:cubicBezTo>
                <a:cubicBezTo>
                  <a:pt x="4891" y="14598"/>
                  <a:pt x="5317" y="15680"/>
                  <a:pt x="4758" y="17390"/>
                </a:cubicBezTo>
                <a:cubicBezTo>
                  <a:pt x="7376" y="16540"/>
                  <a:pt x="8461" y="17351"/>
                  <a:pt x="8474" y="18455"/>
                </a:cubicBezTo>
                <a:cubicBezTo>
                  <a:pt x="8487" y="19560"/>
                  <a:pt x="8015" y="19973"/>
                  <a:pt x="8015" y="19973"/>
                </a:cubicBezTo>
                <a:cubicBezTo>
                  <a:pt x="7078" y="21279"/>
                  <a:pt x="8131" y="21539"/>
                  <a:pt x="8131" y="21539"/>
                </a:cubicBezTo>
                <a:cubicBezTo>
                  <a:pt x="8923" y="21597"/>
                  <a:pt x="8788" y="20282"/>
                  <a:pt x="8788" y="20282"/>
                </a:cubicBezTo>
                <a:cubicBezTo>
                  <a:pt x="8765" y="19731"/>
                  <a:pt x="8951" y="18719"/>
                  <a:pt x="9193" y="18402"/>
                </a:cubicBezTo>
                <a:cubicBezTo>
                  <a:pt x="9719" y="17713"/>
                  <a:pt x="12920" y="16968"/>
                  <a:pt x="13661" y="20186"/>
                </a:cubicBezTo>
                <a:cubicBezTo>
                  <a:pt x="13940" y="17526"/>
                  <a:pt x="16095" y="16040"/>
                  <a:pt x="16894" y="17208"/>
                </a:cubicBezTo>
                <a:cubicBezTo>
                  <a:pt x="17606" y="18250"/>
                  <a:pt x="17592" y="18779"/>
                  <a:pt x="18341" y="19048"/>
                </a:cubicBezTo>
                <a:cubicBezTo>
                  <a:pt x="18817" y="19219"/>
                  <a:pt x="19267" y="18578"/>
                  <a:pt x="19121" y="18094"/>
                </a:cubicBezTo>
                <a:cubicBezTo>
                  <a:pt x="18976" y="17610"/>
                  <a:pt x="18406" y="17609"/>
                  <a:pt x="17445" y="16640"/>
                </a:cubicBezTo>
                <a:cubicBezTo>
                  <a:pt x="16491" y="15680"/>
                  <a:pt x="17449" y="12361"/>
                  <a:pt x="18805" y="12812"/>
                </a:cubicBezTo>
                <a:cubicBezTo>
                  <a:pt x="19049" y="12893"/>
                  <a:pt x="19141" y="12986"/>
                  <a:pt x="19373" y="13014"/>
                </a:cubicBezTo>
                <a:cubicBezTo>
                  <a:pt x="19604" y="13043"/>
                  <a:pt x="19842" y="12954"/>
                  <a:pt x="19868" y="12752"/>
                </a:cubicBezTo>
                <a:cubicBezTo>
                  <a:pt x="19895" y="12550"/>
                  <a:pt x="19769" y="12416"/>
                  <a:pt x="19498" y="12345"/>
                </a:cubicBezTo>
                <a:cubicBezTo>
                  <a:pt x="19278" y="12287"/>
                  <a:pt x="19167" y="12369"/>
                  <a:pt x="18803" y="12220"/>
                </a:cubicBezTo>
                <a:cubicBezTo>
                  <a:pt x="17193" y="11564"/>
                  <a:pt x="17586" y="8705"/>
                  <a:pt x="19810" y="7865"/>
                </a:cubicBezTo>
                <a:cubicBezTo>
                  <a:pt x="17967" y="7771"/>
                  <a:pt x="16765" y="6843"/>
                  <a:pt x="16623" y="5495"/>
                </a:cubicBezTo>
                <a:cubicBezTo>
                  <a:pt x="16548" y="3927"/>
                  <a:pt x="18428" y="3479"/>
                  <a:pt x="18428" y="3479"/>
                </a:cubicBezTo>
                <a:cubicBezTo>
                  <a:pt x="21307" y="2438"/>
                  <a:pt x="19943" y="558"/>
                  <a:pt x="19943" y="558"/>
                </a:cubicBezTo>
                <a:cubicBezTo>
                  <a:pt x="19603" y="206"/>
                  <a:pt x="19290" y="41"/>
                  <a:pt x="19004" y="6"/>
                </a:cubicBezTo>
                <a:cubicBezTo>
                  <a:pt x="18927" y="-3"/>
                  <a:pt x="18851" y="-2"/>
                  <a:pt x="18778" y="6"/>
                </a:cubicBezTo>
                <a:close/>
              </a:path>
            </a:pathLst>
          </a:custGeom>
          <a:solidFill>
            <a:srgbClr val="FAFAFA"/>
          </a:solidFill>
          <a:ln w="12700">
            <a:miter lim="400000"/>
          </a:ln>
          <a:effectLst>
            <a:outerShdw blurRad="254000" dist="162150" dir="5400000" rotWithShape="0">
              <a:schemeClr val="accent6">
                <a:hueOff val="-133706"/>
                <a:satOff val="8281"/>
                <a:lumOff val="-27269"/>
                <a:alpha val="39237"/>
              </a:schemeClr>
            </a:outerShdw>
          </a:effectLst>
        </p:spPr>
        <p:txBody>
          <a:bodyPr lIns="50800" tIns="50800" rIns="50800" bIns="50800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35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40" y="782536"/>
            <a:ext cx="712623" cy="712623"/>
          </a:xfrm>
          <a:prstGeom prst="rect">
            <a:avLst/>
          </a:prstGeom>
          <a:ln w="12700">
            <a:miter lim="400000"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D2C8AAE-D1AE-40DC-90C8-BB29755D05D3}"/>
              </a:ext>
            </a:extLst>
          </p:cNvPr>
          <p:cNvPicPr/>
          <p:nvPr/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20" y="690464"/>
            <a:ext cx="975701" cy="8160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howroom">
  <a:themeElements>
    <a:clrScheme name="Showroom">
      <a:dk1>
        <a:srgbClr val="535353"/>
      </a:dk1>
      <a:lt1>
        <a:srgbClr val="340053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Gill Sans Light"/>
        <a:ea typeface="Gill Sans Light"/>
        <a:cs typeface="Gill Sans Light"/>
      </a:majorFont>
      <a:minorFont>
        <a:latin typeface="Gill Sans Light"/>
        <a:ea typeface="Gill Sans Light"/>
        <a:cs typeface="Gill Sans Light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535353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howroom">
  <a:themeElements>
    <a:clrScheme name="Showroom">
      <a:dk1>
        <a:srgbClr val="000000"/>
      </a:dk1>
      <a:lt1>
        <a:srgbClr val="FFFFFF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Showroom">
      <a:majorFont>
        <a:latin typeface="Gill Sans Light"/>
        <a:ea typeface="Gill Sans Light"/>
        <a:cs typeface="Gill Sans Light"/>
      </a:majorFont>
      <a:minorFont>
        <a:latin typeface="Gill Sans Light"/>
        <a:ea typeface="Gill Sans Light"/>
        <a:cs typeface="Gill Sans Light"/>
      </a:minorFont>
    </a:fontScheme>
    <a:fmtScheme name="Showro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808785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5A5F5E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5000" b="0" i="0" u="none" strike="noStrike" cap="none" spc="0" normalizeH="0" baseline="0">
            <a:ln>
              <a:noFill/>
            </a:ln>
            <a:solidFill>
              <a:srgbClr val="535353"/>
            </a:solidFill>
            <a:effectLst/>
            <a:uFillTx/>
            <a:latin typeface="+mn-lt"/>
            <a:ea typeface="+mn-ea"/>
            <a:cs typeface="+mn-cs"/>
            <a:sym typeface="Gill Sans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1714</TotalTime>
  <Words>644</Words>
  <Application>Microsoft Office PowerPoint</Application>
  <PresentationFormat>Custom</PresentationFormat>
  <Paragraphs>133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Calibri</vt:lpstr>
      <vt:lpstr>Gill Sans</vt:lpstr>
      <vt:lpstr>Gill Sans Light</vt:lpstr>
      <vt:lpstr>Helvetica</vt:lpstr>
      <vt:lpstr>Helvetica Light</vt:lpstr>
      <vt:lpstr>Helvetica Neue</vt:lpstr>
      <vt:lpstr>Showroom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Abhijit Parkhi</dc:creator>
  <cp:lastModifiedBy>Pitchaiah Sale</cp:lastModifiedBy>
  <cp:revision>54</cp:revision>
  <dcterms:modified xsi:type="dcterms:W3CDTF">2021-09-30T11:47:54Z</dcterms:modified>
</cp:coreProperties>
</file>